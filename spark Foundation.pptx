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Bold" panose="020B0604020202020204" charset="0"/>
      <p:regular r:id="rId14"/>
    </p:embeddedFont>
    <p:embeddedFont>
      <p:font typeface="Raleway" pitchFamily="2" charset="0"/>
      <p:regular r:id="rId15"/>
    </p:embeddedFont>
    <p:embeddedFont>
      <p:font typeface="Raleway Bold" charset="0"/>
      <p:regular r:id="rId16"/>
    </p:embeddedFont>
    <p:embeddedFont>
      <p:font typeface="Raleway Heavy"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766"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283244" flipH="1">
            <a:off x="-4759168" y="4375423"/>
            <a:ext cx="10358005" cy="10410055"/>
          </a:xfrm>
          <a:custGeom>
            <a:avLst/>
            <a:gdLst/>
            <a:ahLst/>
            <a:cxnLst/>
            <a:rect l="l" t="t" r="r" b="b"/>
            <a:pathLst>
              <a:path w="10358005" h="10410055">
                <a:moveTo>
                  <a:pt x="10358005" y="0"/>
                </a:moveTo>
                <a:lnTo>
                  <a:pt x="0" y="0"/>
                </a:lnTo>
                <a:lnTo>
                  <a:pt x="0" y="10410055"/>
                </a:lnTo>
                <a:lnTo>
                  <a:pt x="10358005" y="10410055"/>
                </a:lnTo>
                <a:lnTo>
                  <a:pt x="10358005" y="0"/>
                </a:lnTo>
                <a:close/>
              </a:path>
            </a:pathLst>
          </a:custGeom>
          <a:blipFill>
            <a:blip r:embed="rId2"/>
            <a:stretch>
              <a:fillRect/>
            </a:stretch>
          </a:blipFill>
        </p:spPr>
        <p:txBody>
          <a:bodyPr/>
          <a:lstStyle/>
          <a:p>
            <a:endParaRPr lang="en-US"/>
          </a:p>
        </p:txBody>
      </p:sp>
      <p:sp>
        <p:nvSpPr>
          <p:cNvPr id="3" name="Freeform 3"/>
          <p:cNvSpPr/>
          <p:nvPr/>
        </p:nvSpPr>
        <p:spPr>
          <a:xfrm>
            <a:off x="6330741" y="-10904054"/>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Freeform 4"/>
          <p:cNvSpPr/>
          <p:nvPr/>
        </p:nvSpPr>
        <p:spPr>
          <a:xfrm>
            <a:off x="10663789" y="2595114"/>
            <a:ext cx="912505" cy="912505"/>
          </a:xfrm>
          <a:custGeom>
            <a:avLst/>
            <a:gdLst/>
            <a:ahLst/>
            <a:cxnLst/>
            <a:rect l="l" t="t" r="r" b="b"/>
            <a:pathLst>
              <a:path w="912505" h="912505">
                <a:moveTo>
                  <a:pt x="0" y="0"/>
                </a:moveTo>
                <a:lnTo>
                  <a:pt x="912504" y="0"/>
                </a:lnTo>
                <a:lnTo>
                  <a:pt x="912504" y="912505"/>
                </a:lnTo>
                <a:lnTo>
                  <a:pt x="0" y="9125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2455026" y="-917369"/>
            <a:ext cx="4220884" cy="422088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txBody>
            <a:bodyPr/>
            <a:lstStyle/>
            <a:p>
              <a:endParaRPr lang="en-US"/>
            </a:p>
          </p:txBody>
        </p:sp>
        <p:sp>
          <p:nvSpPr>
            <p:cNvPr id="8" name="TextBox 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9" name="TextBox 9"/>
          <p:cNvSpPr txBox="1"/>
          <p:nvPr/>
        </p:nvSpPr>
        <p:spPr>
          <a:xfrm>
            <a:off x="2992421" y="1599704"/>
            <a:ext cx="7290271" cy="2806864"/>
          </a:xfrm>
          <a:prstGeom prst="rect">
            <a:avLst/>
          </a:prstGeom>
        </p:spPr>
        <p:txBody>
          <a:bodyPr lIns="0" tIns="0" rIns="0" bIns="0" rtlCol="0" anchor="t">
            <a:spAutoFit/>
          </a:bodyPr>
          <a:lstStyle/>
          <a:p>
            <a:pPr algn="l">
              <a:lnSpc>
                <a:spcPts val="21208"/>
              </a:lnSpc>
              <a:spcBef>
                <a:spcPct val="0"/>
              </a:spcBef>
            </a:pPr>
            <a:r>
              <a:rPr lang="en-US" sz="20392" b="1">
                <a:solidFill>
                  <a:srgbClr val="FFFFFF"/>
                </a:solidFill>
                <a:latin typeface="Raleway Heavy"/>
                <a:ea typeface="Raleway Heavy"/>
                <a:cs typeface="Raleway Heavy"/>
                <a:sym typeface="Raleway Heavy"/>
              </a:rPr>
              <a:t>spark</a:t>
            </a:r>
          </a:p>
        </p:txBody>
      </p:sp>
      <p:sp>
        <p:nvSpPr>
          <p:cNvPr id="10" name="TextBox 10"/>
          <p:cNvSpPr txBox="1"/>
          <p:nvPr/>
        </p:nvSpPr>
        <p:spPr>
          <a:xfrm>
            <a:off x="1086710" y="4578018"/>
            <a:ext cx="15893070" cy="1881932"/>
          </a:xfrm>
          <a:prstGeom prst="rect">
            <a:avLst/>
          </a:prstGeom>
        </p:spPr>
        <p:txBody>
          <a:bodyPr lIns="0" tIns="0" rIns="0" bIns="0" rtlCol="0" anchor="t">
            <a:spAutoFit/>
          </a:bodyPr>
          <a:lstStyle/>
          <a:p>
            <a:pPr algn="l">
              <a:lnSpc>
                <a:spcPts val="14298"/>
              </a:lnSpc>
              <a:spcBef>
                <a:spcPct val="0"/>
              </a:spcBef>
            </a:pPr>
            <a:r>
              <a:rPr lang="en-US" sz="13748" b="1">
                <a:solidFill>
                  <a:srgbClr val="C6269E"/>
                </a:solidFill>
                <a:latin typeface="Raleway Bold"/>
                <a:ea typeface="Raleway Bold"/>
                <a:cs typeface="Raleway Bold"/>
                <a:sym typeface="Raleway Bold"/>
              </a:rPr>
              <a:t>project foundation</a:t>
            </a:r>
          </a:p>
        </p:txBody>
      </p:sp>
      <p:sp>
        <p:nvSpPr>
          <p:cNvPr id="11" name="TextBox 11"/>
          <p:cNvSpPr txBox="1"/>
          <p:nvPr/>
        </p:nvSpPr>
        <p:spPr>
          <a:xfrm>
            <a:off x="15309115" y="9072819"/>
            <a:ext cx="1716617" cy="345235"/>
          </a:xfrm>
          <a:prstGeom prst="rect">
            <a:avLst/>
          </a:prstGeom>
        </p:spPr>
        <p:txBody>
          <a:bodyPr lIns="0" tIns="0" rIns="0" bIns="0" rtlCol="0" anchor="t">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id="12" name="TextBox 12"/>
          <p:cNvSpPr txBox="1"/>
          <p:nvPr/>
        </p:nvSpPr>
        <p:spPr>
          <a:xfrm rot="-5400000">
            <a:off x="129306" y="8871810"/>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a:t>
            </a:r>
          </a:p>
        </p:txBody>
      </p:sp>
      <p:grpSp>
        <p:nvGrpSpPr>
          <p:cNvPr id="13" name="Group 13"/>
          <p:cNvGrpSpPr/>
          <p:nvPr/>
        </p:nvGrpSpPr>
        <p:grpSpPr>
          <a:xfrm>
            <a:off x="13882414" y="6856111"/>
            <a:ext cx="5809652" cy="580965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F7E0E1">
                      <a:alpha val="0"/>
                    </a:srgbClr>
                  </a:gs>
                  <a:gs pos="100000">
                    <a:srgbClr val="C6269E">
                      <a:alpha val="100000"/>
                    </a:srgbClr>
                  </a:gs>
                </a:gsLst>
                <a:lin ang="0"/>
              </a:gradFill>
              <a:prstDash val="solid"/>
              <a:miter/>
            </a:ln>
          </p:spPr>
          <p:txBody>
            <a:bodyPr/>
            <a:lstStyle/>
            <a:p>
              <a:endParaRPr lang="en-US"/>
            </a:p>
          </p:txBody>
        </p:sp>
        <p:sp>
          <p:nvSpPr>
            <p:cNvPr id="15" name="TextBox 1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179439" y="-10904054"/>
            <a:ext cx="17956749" cy="18046984"/>
          </a:xfrm>
          <a:custGeom>
            <a:avLst/>
            <a:gdLst/>
            <a:ahLst/>
            <a:cxnLst/>
            <a:rect l="l" t="t" r="r" b="b"/>
            <a:pathLst>
              <a:path w="17956749" h="18046984">
                <a:moveTo>
                  <a:pt x="0" y="0"/>
                </a:moveTo>
                <a:lnTo>
                  <a:pt x="17956750" y="0"/>
                </a:lnTo>
                <a:lnTo>
                  <a:pt x="17956750" y="18046984"/>
                </a:lnTo>
                <a:lnTo>
                  <a:pt x="0" y="18046984"/>
                </a:lnTo>
                <a:lnTo>
                  <a:pt x="0" y="0"/>
                </a:lnTo>
                <a:close/>
              </a:path>
            </a:pathLst>
          </a:custGeom>
          <a:blipFill>
            <a:blip r:embed="rId2"/>
            <a:stretch>
              <a:fillRect/>
            </a:stretch>
          </a:blipFill>
        </p:spPr>
        <p:txBody>
          <a:bodyPr/>
          <a:lstStyle/>
          <a:p>
            <a:endParaRPr lang="en-US"/>
          </a:p>
        </p:txBody>
      </p:sp>
      <p:sp>
        <p:nvSpPr>
          <p:cNvPr id="3" name="Freeform 3"/>
          <p:cNvSpPr/>
          <p:nvPr/>
        </p:nvSpPr>
        <p:spPr>
          <a:xfrm>
            <a:off x="-12661483" y="2951751"/>
            <a:ext cx="17956749" cy="18046984"/>
          </a:xfrm>
          <a:custGeom>
            <a:avLst/>
            <a:gdLst/>
            <a:ahLst/>
            <a:cxnLst/>
            <a:rect l="l" t="t" r="r" b="b"/>
            <a:pathLst>
              <a:path w="17956749" h="18046984">
                <a:moveTo>
                  <a:pt x="0" y="0"/>
                </a:moveTo>
                <a:lnTo>
                  <a:pt x="17956750" y="0"/>
                </a:lnTo>
                <a:lnTo>
                  <a:pt x="17956750" y="18046984"/>
                </a:lnTo>
                <a:lnTo>
                  <a:pt x="0" y="18046984"/>
                </a:lnTo>
                <a:lnTo>
                  <a:pt x="0" y="0"/>
                </a:lnTo>
                <a:close/>
              </a:path>
            </a:pathLst>
          </a:custGeom>
          <a:blipFill>
            <a:blip r:embed="rId2"/>
            <a:stretch>
              <a:fillRect/>
            </a:stretch>
          </a:blipFill>
        </p:spPr>
        <p:txBody>
          <a:bodyPr/>
          <a:lstStyle/>
          <a:p>
            <a:endParaRPr lang="en-US"/>
          </a:p>
        </p:txBody>
      </p:sp>
      <p:grpSp>
        <p:nvGrpSpPr>
          <p:cNvPr id="4" name="Group 4"/>
          <p:cNvGrpSpPr>
            <a:grpSpLocks noChangeAspect="1"/>
          </p:cNvGrpSpPr>
          <p:nvPr/>
        </p:nvGrpSpPr>
        <p:grpSpPr>
          <a:xfrm>
            <a:off x="1314450" y="2961276"/>
            <a:ext cx="6868477" cy="5514640"/>
            <a:chOff x="0" y="0"/>
            <a:chExt cx="7467600" cy="5995670"/>
          </a:xfrm>
        </p:grpSpPr>
        <p:sp>
          <p:nvSpPr>
            <p:cNvPr id="5" name="Freeform 5"/>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gradFill rotWithShape="1">
              <a:gsLst>
                <a:gs pos="0">
                  <a:srgbClr val="1F1A1A">
                    <a:alpha val="100000"/>
                  </a:srgbClr>
                </a:gs>
                <a:gs pos="100000">
                  <a:srgbClr val="000000">
                    <a:alpha val="100000"/>
                  </a:srgbClr>
                </a:gs>
              </a:gsLst>
              <a:lin ang="0"/>
            </a:gradFill>
          </p:spPr>
          <p:txBody>
            <a:bodyPr/>
            <a:lstStyle/>
            <a:p>
              <a:endParaRPr lang="en-US"/>
            </a:p>
          </p:txBody>
        </p:sp>
        <p:sp>
          <p:nvSpPr>
            <p:cNvPr id="6" name="Freeform 6"/>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txBody>
            <a:bodyPr/>
            <a:lstStyle/>
            <a:p>
              <a:endParaRPr lang="en-US"/>
            </a:p>
          </p:txBody>
        </p:sp>
        <p:sp>
          <p:nvSpPr>
            <p:cNvPr id="7" name="Freeform 7"/>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txBody>
            <a:bodyPr/>
            <a:lstStyle/>
            <a:p>
              <a:endParaRPr lang="en-US"/>
            </a:p>
          </p:txBody>
        </p:sp>
        <p:sp>
          <p:nvSpPr>
            <p:cNvPr id="8" name="Freeform 8"/>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3"/>
              <a:stretch>
                <a:fillRect t="-9411" b="-9411"/>
              </a:stretch>
            </a:blipFill>
          </p:spPr>
          <p:txBody>
            <a:bodyPr/>
            <a:lstStyle/>
            <a:p>
              <a:endParaRPr lang="en-US"/>
            </a:p>
          </p:txBody>
        </p:sp>
      </p:grpSp>
      <p:sp>
        <p:nvSpPr>
          <p:cNvPr id="9" name="TextBox 9"/>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2</a:t>
            </a:r>
          </a:p>
        </p:txBody>
      </p:sp>
      <p:sp>
        <p:nvSpPr>
          <p:cNvPr id="10" name="TextBox 10"/>
          <p:cNvSpPr txBox="1"/>
          <p:nvPr/>
        </p:nvSpPr>
        <p:spPr>
          <a:xfrm>
            <a:off x="9662082" y="3180351"/>
            <a:ext cx="8978343" cy="3812966"/>
          </a:xfrm>
          <a:prstGeom prst="rect">
            <a:avLst/>
          </a:prstGeom>
        </p:spPr>
        <p:txBody>
          <a:bodyPr lIns="0" tIns="0" rIns="0" bIns="0" rtlCol="0" anchor="t">
            <a:spAutoFit/>
          </a:bodyPr>
          <a:lstStyle/>
          <a:p>
            <a:pPr algn="l">
              <a:lnSpc>
                <a:spcPts val="9896"/>
              </a:lnSpc>
              <a:spcBef>
                <a:spcPct val="0"/>
              </a:spcBef>
            </a:pPr>
            <a:r>
              <a:rPr lang="en-US" sz="9515" b="1">
                <a:solidFill>
                  <a:srgbClr val="FFFFFF"/>
                </a:solidFill>
                <a:latin typeface="Raleway Heavy"/>
                <a:ea typeface="Raleway Heavy"/>
                <a:cs typeface="Raleway Heavy"/>
                <a:sym typeface="Raleway Heavy"/>
              </a:rPr>
              <a:t>spark marketing agency</a:t>
            </a:r>
          </a:p>
        </p:txBody>
      </p:sp>
      <p:sp>
        <p:nvSpPr>
          <p:cNvPr id="11" name="TextBox 11"/>
          <p:cNvSpPr txBox="1"/>
          <p:nvPr/>
        </p:nvSpPr>
        <p:spPr>
          <a:xfrm>
            <a:off x="5521253" y="1100853"/>
            <a:ext cx="7404422" cy="1109000"/>
          </a:xfrm>
          <a:prstGeom prst="rect">
            <a:avLst/>
          </a:prstGeom>
        </p:spPr>
        <p:txBody>
          <a:bodyPr lIns="0" tIns="0" rIns="0" bIns="0" rtlCol="0" anchor="t">
            <a:spAutoFit/>
          </a:bodyPr>
          <a:lstStyle/>
          <a:p>
            <a:pPr algn="l">
              <a:lnSpc>
                <a:spcPts val="8394"/>
              </a:lnSpc>
              <a:spcBef>
                <a:spcPct val="0"/>
              </a:spcBef>
            </a:pPr>
            <a:r>
              <a:rPr lang="en-US" sz="8071" b="1">
                <a:solidFill>
                  <a:srgbClr val="C6269E"/>
                </a:solidFill>
                <a:latin typeface="Raleway Bold"/>
                <a:ea typeface="Raleway Bold"/>
                <a:cs typeface="Raleway Bold"/>
                <a:sym typeface="Raleway Bold"/>
              </a:rPr>
              <a:t>Project Name</a:t>
            </a:r>
          </a:p>
        </p:txBody>
      </p:sp>
      <p:sp>
        <p:nvSpPr>
          <p:cNvPr id="12" name="TextBox 12"/>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13" name="Freeform 13"/>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847191" y="-11077047"/>
            <a:ext cx="17956749" cy="18046984"/>
          </a:xfrm>
          <a:custGeom>
            <a:avLst/>
            <a:gdLst/>
            <a:ahLst/>
            <a:cxnLst/>
            <a:rect l="l" t="t" r="r" b="b"/>
            <a:pathLst>
              <a:path w="17956749" h="18046984">
                <a:moveTo>
                  <a:pt x="0" y="0"/>
                </a:moveTo>
                <a:lnTo>
                  <a:pt x="17956750" y="0"/>
                </a:lnTo>
                <a:lnTo>
                  <a:pt x="17956750"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12769799" y="360481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028700" y="2729076"/>
            <a:ext cx="5521894" cy="5521894"/>
            <a:chOff x="0" y="0"/>
            <a:chExt cx="14840029" cy="14840029"/>
          </a:xfrm>
        </p:grpSpPr>
        <p:sp>
          <p:nvSpPr>
            <p:cNvPr id="7" name="Freeform 7"/>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C6269E">
                    <a:alpha val="100000"/>
                  </a:srgbClr>
                </a:gs>
                <a:gs pos="100000">
                  <a:srgbClr val="7A126A">
                    <a:alpha val="100000"/>
                  </a:srgbClr>
                </a:gs>
              </a:gsLst>
              <a:lin ang="0"/>
            </a:gradFill>
          </p:spPr>
          <p:txBody>
            <a:bodyPr/>
            <a:lstStyle/>
            <a:p>
              <a:endParaRPr lang="en-US"/>
            </a:p>
          </p:txBody>
        </p:sp>
        <p:sp>
          <p:nvSpPr>
            <p:cNvPr id="8" name="Freeform 8"/>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txBody>
            <a:bodyPr/>
            <a:lstStyle/>
            <a:p>
              <a:endParaRPr lang="en-US"/>
            </a:p>
          </p:txBody>
        </p:sp>
        <p:sp>
          <p:nvSpPr>
            <p:cNvPr id="9" name="Freeform 9"/>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5134" r="-25134"/>
              </a:stretch>
            </a:blipFill>
          </p:spPr>
          <p:txBody>
            <a:bodyPr/>
            <a:lstStyle/>
            <a:p>
              <a:endParaRPr lang="en-US"/>
            </a:p>
          </p:txBody>
        </p:sp>
      </p:grpSp>
      <p:sp>
        <p:nvSpPr>
          <p:cNvPr id="10" name="TextBox 10"/>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3</a:t>
            </a:r>
          </a:p>
        </p:txBody>
      </p:sp>
      <p:sp>
        <p:nvSpPr>
          <p:cNvPr id="11" name="TextBox 11"/>
          <p:cNvSpPr txBox="1"/>
          <p:nvPr/>
        </p:nvSpPr>
        <p:spPr>
          <a:xfrm>
            <a:off x="952500" y="936248"/>
            <a:ext cx="7947030" cy="1241691"/>
          </a:xfrm>
          <a:prstGeom prst="rect">
            <a:avLst/>
          </a:prstGeom>
        </p:spPr>
        <p:txBody>
          <a:bodyPr lIns="0" tIns="0" rIns="0" bIns="0" rtlCol="0" anchor="t">
            <a:spAutoFit/>
          </a:bodyPr>
          <a:lstStyle/>
          <a:p>
            <a:pPr algn="l">
              <a:lnSpc>
                <a:spcPts val="9438"/>
              </a:lnSpc>
              <a:spcBef>
                <a:spcPct val="0"/>
              </a:spcBef>
            </a:pPr>
            <a:r>
              <a:rPr lang="en-US" sz="9075" b="1">
                <a:solidFill>
                  <a:srgbClr val="C6269E"/>
                </a:solidFill>
                <a:latin typeface="Raleway Heavy"/>
                <a:ea typeface="Raleway Heavy"/>
                <a:cs typeface="Raleway Heavy"/>
                <a:sym typeface="Raleway Heavy"/>
              </a:rPr>
              <a:t>project idea</a:t>
            </a:r>
          </a:p>
        </p:txBody>
      </p:sp>
      <p:sp>
        <p:nvSpPr>
          <p:cNvPr id="12" name="TextBox 12"/>
          <p:cNvSpPr txBox="1"/>
          <p:nvPr/>
        </p:nvSpPr>
        <p:spPr>
          <a:xfrm>
            <a:off x="6906963" y="3700067"/>
            <a:ext cx="10971462" cy="3759475"/>
          </a:xfrm>
          <a:prstGeom prst="rect">
            <a:avLst/>
          </a:prstGeom>
        </p:spPr>
        <p:txBody>
          <a:bodyPr lIns="0" tIns="0" rIns="0" bIns="0" rtlCol="0" anchor="t">
            <a:spAutoFit/>
          </a:bodyPr>
          <a:lstStyle/>
          <a:p>
            <a:pPr algn="l">
              <a:lnSpc>
                <a:spcPts val="4239"/>
              </a:lnSpc>
            </a:pPr>
            <a:r>
              <a:rPr lang="en-US" sz="4076">
                <a:solidFill>
                  <a:srgbClr val="FFFFFA"/>
                </a:solidFill>
                <a:latin typeface="Raleway"/>
                <a:ea typeface="Raleway"/>
                <a:cs typeface="Raleway"/>
                <a:sym typeface="Raleway"/>
              </a:rPr>
              <a:t>Marketing Agency dedicated to empowering EdTech startups and training platforms. </a:t>
            </a:r>
          </a:p>
          <a:p>
            <a:pPr algn="l">
              <a:lnSpc>
                <a:spcPts val="4239"/>
              </a:lnSpc>
            </a:pPr>
            <a:r>
              <a:rPr lang="en-US" sz="4076">
                <a:solidFill>
                  <a:srgbClr val="FFFFFA"/>
                </a:solidFill>
                <a:latin typeface="Raleway"/>
                <a:ea typeface="Raleway"/>
                <a:cs typeface="Raleway"/>
                <a:sym typeface="Raleway"/>
              </a:rPr>
              <a:t>We focus on building strong brands and fostering deep customer trust and loyalty. </a:t>
            </a:r>
          </a:p>
          <a:p>
            <a:pPr algn="l">
              <a:lnSpc>
                <a:spcPts val="4239"/>
              </a:lnSpc>
              <a:spcBef>
                <a:spcPct val="0"/>
              </a:spcBef>
            </a:pPr>
            <a:r>
              <a:rPr lang="en-US" sz="4076">
                <a:solidFill>
                  <a:srgbClr val="FFFFFA"/>
                </a:solidFill>
                <a:latin typeface="Raleway"/>
                <a:ea typeface="Raleway"/>
                <a:cs typeface="Raleway"/>
                <a:sym typeface="Raleway"/>
              </a:rPr>
              <a:t>By managing your social media presence strategically, we turn your audience into a committed community.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4320706" y="3141893"/>
            <a:ext cx="2365904" cy="4681347"/>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324" r="-112324"/>
              </a:stretch>
            </a:blipFill>
          </p:spPr>
          <p:txBody>
            <a:bodyPr/>
            <a:lstStyle/>
            <a:p>
              <a:endParaRPr lang="en-US"/>
            </a:p>
          </p:txBody>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6" name="Freeform 16"/>
          <p:cNvSpPr/>
          <p:nvPr/>
        </p:nvSpPr>
        <p:spPr>
          <a:xfrm>
            <a:off x="1453719" y="317904"/>
            <a:ext cx="1425528" cy="993922"/>
          </a:xfrm>
          <a:custGeom>
            <a:avLst/>
            <a:gdLst/>
            <a:ahLst/>
            <a:cxnLst/>
            <a:rect l="l" t="t" r="r" b="b"/>
            <a:pathLst>
              <a:path w="1425528" h="993922">
                <a:moveTo>
                  <a:pt x="0" y="0"/>
                </a:moveTo>
                <a:lnTo>
                  <a:pt x="1425528" y="0"/>
                </a:lnTo>
                <a:lnTo>
                  <a:pt x="1425528" y="993922"/>
                </a:lnTo>
                <a:lnTo>
                  <a:pt x="0" y="9939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4</a:t>
            </a:r>
          </a:p>
        </p:txBody>
      </p:sp>
      <p:sp>
        <p:nvSpPr>
          <p:cNvPr id="18" name="TextBox 18"/>
          <p:cNvSpPr txBox="1"/>
          <p:nvPr/>
        </p:nvSpPr>
        <p:spPr>
          <a:xfrm>
            <a:off x="4307730" y="285839"/>
            <a:ext cx="10012976" cy="1172352"/>
          </a:xfrm>
          <a:prstGeom prst="rect">
            <a:avLst/>
          </a:prstGeom>
        </p:spPr>
        <p:txBody>
          <a:bodyPr lIns="0" tIns="0" rIns="0" bIns="0" rtlCol="0" anchor="t">
            <a:spAutoFit/>
          </a:bodyPr>
          <a:lstStyle/>
          <a:p>
            <a:pPr algn="l">
              <a:lnSpc>
                <a:spcPts val="8814"/>
              </a:lnSpc>
              <a:spcBef>
                <a:spcPct val="0"/>
              </a:spcBef>
            </a:pPr>
            <a:r>
              <a:rPr lang="en-US" sz="8475" b="1">
                <a:solidFill>
                  <a:srgbClr val="C6269E"/>
                </a:solidFill>
                <a:latin typeface="Raleway Heavy"/>
                <a:ea typeface="Raleway Heavy"/>
                <a:cs typeface="Raleway Heavy"/>
                <a:sym typeface="Raleway Heavy"/>
              </a:rPr>
              <a:t>services we offer</a:t>
            </a:r>
          </a:p>
        </p:txBody>
      </p:sp>
      <p:sp>
        <p:nvSpPr>
          <p:cNvPr id="19" name="TextBox 19"/>
          <p:cNvSpPr txBox="1"/>
          <p:nvPr/>
        </p:nvSpPr>
        <p:spPr>
          <a:xfrm>
            <a:off x="3629458" y="2545349"/>
            <a:ext cx="8273541" cy="1243135"/>
          </a:xfrm>
          <a:prstGeom prst="rect">
            <a:avLst/>
          </a:prstGeom>
        </p:spPr>
        <p:txBody>
          <a:bodyPr lIns="0" tIns="0" rIns="0" bIns="0" rtlCol="0" anchor="t">
            <a:spAutoFit/>
          </a:bodyPr>
          <a:lstStyle/>
          <a:p>
            <a:pPr algn="l">
              <a:lnSpc>
                <a:spcPts val="4956"/>
              </a:lnSpc>
            </a:pPr>
            <a:r>
              <a:rPr lang="en-US" sz="3540" b="1">
                <a:solidFill>
                  <a:srgbClr val="FFFFFA"/>
                </a:solidFill>
                <a:latin typeface="Raleway Bold"/>
                <a:ea typeface="Raleway Bold"/>
                <a:cs typeface="Raleway Bold"/>
                <a:sym typeface="Raleway Bold"/>
              </a:rPr>
              <a:t>Social Media Marketing (SMM)</a:t>
            </a:r>
          </a:p>
          <a:p>
            <a:pPr algn="l">
              <a:lnSpc>
                <a:spcPts val="4956"/>
              </a:lnSpc>
            </a:pPr>
            <a:endParaRPr lang="en-US" sz="3540" b="1">
              <a:solidFill>
                <a:srgbClr val="FFFFFA"/>
              </a:solidFill>
              <a:latin typeface="Raleway Bold"/>
              <a:ea typeface="Raleway Bold"/>
              <a:cs typeface="Raleway Bold"/>
              <a:sym typeface="Raleway Bold"/>
            </a:endParaRPr>
          </a:p>
        </p:txBody>
      </p:sp>
      <p:sp>
        <p:nvSpPr>
          <p:cNvPr id="20" name="TextBox 20"/>
          <p:cNvSpPr txBox="1"/>
          <p:nvPr/>
        </p:nvSpPr>
        <p:spPr>
          <a:xfrm>
            <a:off x="3629458" y="6161282"/>
            <a:ext cx="9205420" cy="615820"/>
          </a:xfrm>
          <a:prstGeom prst="rect">
            <a:avLst/>
          </a:prstGeom>
        </p:spPr>
        <p:txBody>
          <a:bodyPr lIns="0" tIns="0" rIns="0" bIns="0" rtlCol="0" anchor="t">
            <a:spAutoFit/>
          </a:bodyPr>
          <a:lstStyle/>
          <a:p>
            <a:pPr algn="l">
              <a:lnSpc>
                <a:spcPts val="4907"/>
              </a:lnSpc>
            </a:pPr>
            <a:r>
              <a:rPr lang="en-US" sz="3505" b="1">
                <a:solidFill>
                  <a:srgbClr val="FFFFFA"/>
                </a:solidFill>
                <a:latin typeface="Raleway Bold"/>
                <a:ea typeface="Raleway Bold"/>
                <a:cs typeface="Raleway Bold"/>
                <a:sym typeface="Raleway Bold"/>
              </a:rPr>
              <a:t>Paid Advertising (Performance Marketing)</a:t>
            </a:r>
          </a:p>
        </p:txBody>
      </p:sp>
      <p:sp>
        <p:nvSpPr>
          <p:cNvPr id="21" name="TextBox 21"/>
          <p:cNvSpPr txBox="1"/>
          <p:nvPr/>
        </p:nvSpPr>
        <p:spPr>
          <a:xfrm>
            <a:off x="790168" y="1420091"/>
            <a:ext cx="17195914" cy="1362098"/>
          </a:xfrm>
          <a:prstGeom prst="rect">
            <a:avLst/>
          </a:prstGeom>
        </p:spPr>
        <p:txBody>
          <a:bodyPr lIns="0" tIns="0" rIns="0" bIns="0" rtlCol="0" anchor="t">
            <a:spAutoFit/>
          </a:bodyPr>
          <a:lstStyle/>
          <a:p>
            <a:pPr algn="l">
              <a:lnSpc>
                <a:spcPts val="3673"/>
              </a:lnSpc>
            </a:pPr>
            <a:r>
              <a:rPr lang="en-US" sz="2624">
                <a:solidFill>
                  <a:srgbClr val="FFFFFA"/>
                </a:solidFill>
                <a:latin typeface="Raleway"/>
                <a:ea typeface="Raleway"/>
                <a:cs typeface="Raleway"/>
                <a:sym typeface="Raleway"/>
              </a:rPr>
              <a:t>As a newly established digital marketing agency, we focus on helping educational platforms grow, attract learners, and build a strong digital presence. Below is an overview of the services we offer:</a:t>
            </a:r>
          </a:p>
          <a:p>
            <a:pPr algn="l">
              <a:lnSpc>
                <a:spcPts val="3673"/>
              </a:lnSpc>
            </a:pPr>
            <a:endParaRPr lang="en-US" sz="2624">
              <a:solidFill>
                <a:srgbClr val="FFFFFA"/>
              </a:solidFill>
              <a:latin typeface="Raleway"/>
              <a:ea typeface="Raleway"/>
              <a:cs typeface="Raleway"/>
              <a:sym typeface="Raleway"/>
            </a:endParaRPr>
          </a:p>
        </p:txBody>
      </p:sp>
      <p:sp>
        <p:nvSpPr>
          <p:cNvPr id="22" name="TextBox 22"/>
          <p:cNvSpPr txBox="1"/>
          <p:nvPr/>
        </p:nvSpPr>
        <p:spPr>
          <a:xfrm>
            <a:off x="2361541" y="3255847"/>
            <a:ext cx="12612974" cy="2855128"/>
          </a:xfrm>
          <a:prstGeom prst="rect">
            <a:avLst/>
          </a:prstGeom>
        </p:spPr>
        <p:txBody>
          <a:bodyPr lIns="0" tIns="0" rIns="0" bIns="0" rtlCol="0" anchor="t">
            <a:spAutoFit/>
          </a:bodyPr>
          <a:lstStyle/>
          <a:p>
            <a:pPr algn="l">
              <a:lnSpc>
                <a:spcPts val="3805"/>
              </a:lnSpc>
            </a:pPr>
            <a:r>
              <a:rPr lang="en-US" sz="2718">
                <a:solidFill>
                  <a:srgbClr val="FFFFFA"/>
                </a:solidFill>
                <a:latin typeface="Raleway"/>
                <a:ea typeface="Raleway"/>
                <a:cs typeface="Raleway"/>
                <a:sym typeface="Raleway"/>
              </a:rPr>
              <a:t>• Social media strategy &amp; planning</a:t>
            </a:r>
          </a:p>
          <a:p>
            <a:pPr algn="l">
              <a:lnSpc>
                <a:spcPts val="3805"/>
              </a:lnSpc>
            </a:pPr>
            <a:r>
              <a:rPr lang="en-US" sz="2718">
                <a:solidFill>
                  <a:srgbClr val="FFFFFA"/>
                </a:solidFill>
                <a:latin typeface="Raleway"/>
                <a:ea typeface="Raleway"/>
                <a:cs typeface="Raleway"/>
                <a:sym typeface="Raleway"/>
              </a:rPr>
              <a:t>• Content creation (posts, reels, stories)</a:t>
            </a:r>
          </a:p>
          <a:p>
            <a:pPr algn="l">
              <a:lnSpc>
                <a:spcPts val="3805"/>
              </a:lnSpc>
            </a:pPr>
            <a:r>
              <a:rPr lang="en-US" sz="2718">
                <a:solidFill>
                  <a:srgbClr val="FFFFFA"/>
                </a:solidFill>
                <a:latin typeface="Raleway"/>
                <a:ea typeface="Raleway"/>
                <a:cs typeface="Raleway"/>
                <a:sym typeface="Raleway"/>
              </a:rPr>
              <a:t>• Community management</a:t>
            </a:r>
          </a:p>
          <a:p>
            <a:pPr algn="l">
              <a:lnSpc>
                <a:spcPts val="3805"/>
              </a:lnSpc>
            </a:pPr>
            <a:r>
              <a:rPr lang="en-US" sz="2718">
                <a:solidFill>
                  <a:srgbClr val="FFFFFA"/>
                </a:solidFill>
                <a:latin typeface="Raleway"/>
                <a:ea typeface="Raleway"/>
                <a:cs typeface="Raleway"/>
                <a:sym typeface="Raleway"/>
              </a:rPr>
              <a:t>• Social media advertising</a:t>
            </a:r>
          </a:p>
          <a:p>
            <a:pPr algn="l">
              <a:lnSpc>
                <a:spcPts val="3805"/>
              </a:lnSpc>
            </a:pPr>
            <a:r>
              <a:rPr lang="en-US" sz="2718">
                <a:solidFill>
                  <a:srgbClr val="FFFFFA"/>
                </a:solidFill>
                <a:latin typeface="Raleway"/>
                <a:ea typeface="Raleway"/>
                <a:cs typeface="Raleway"/>
                <a:sym typeface="Raleway"/>
              </a:rPr>
              <a:t>• Performance analysis &amp; reporting</a:t>
            </a:r>
          </a:p>
          <a:p>
            <a:pPr algn="l">
              <a:lnSpc>
                <a:spcPts val="3805"/>
              </a:lnSpc>
            </a:pPr>
            <a:r>
              <a:rPr lang="en-US" sz="2718">
                <a:solidFill>
                  <a:srgbClr val="FFFFFA"/>
                </a:solidFill>
                <a:latin typeface="Raleway"/>
                <a:ea typeface="Raleway"/>
                <a:cs typeface="Raleway"/>
                <a:sym typeface="Raleway"/>
              </a:rPr>
              <a:t>Platforms: Facebook | Instagram | LinkedIn | TikTok | X</a:t>
            </a:r>
          </a:p>
        </p:txBody>
      </p:sp>
      <p:grpSp>
        <p:nvGrpSpPr>
          <p:cNvPr id="23" name="Group 23"/>
          <p:cNvGrpSpPr/>
          <p:nvPr/>
        </p:nvGrpSpPr>
        <p:grpSpPr>
          <a:xfrm rot="2087854">
            <a:off x="2737695" y="2586489"/>
            <a:ext cx="615450" cy="6154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6" name="Group 26"/>
          <p:cNvGrpSpPr/>
          <p:nvPr/>
        </p:nvGrpSpPr>
        <p:grpSpPr>
          <a:xfrm rot="2087854">
            <a:off x="2737695" y="6231557"/>
            <a:ext cx="615450" cy="6154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8" name="TextBox 2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9" name="TextBox 29"/>
          <p:cNvSpPr txBox="1"/>
          <p:nvPr/>
        </p:nvSpPr>
        <p:spPr>
          <a:xfrm>
            <a:off x="2361541" y="6951994"/>
            <a:ext cx="14966269" cy="2855128"/>
          </a:xfrm>
          <a:prstGeom prst="rect">
            <a:avLst/>
          </a:prstGeom>
        </p:spPr>
        <p:txBody>
          <a:bodyPr lIns="0" tIns="0" rIns="0" bIns="0" rtlCol="0" anchor="t">
            <a:spAutoFit/>
          </a:bodyPr>
          <a:lstStyle/>
          <a:p>
            <a:pPr algn="l">
              <a:lnSpc>
                <a:spcPts val="3805"/>
              </a:lnSpc>
            </a:pPr>
            <a:r>
              <a:rPr lang="en-US" sz="2718">
                <a:solidFill>
                  <a:srgbClr val="FFFFFA"/>
                </a:solidFill>
                <a:latin typeface="Raleway"/>
                <a:ea typeface="Raleway"/>
                <a:cs typeface="Raleway"/>
                <a:sym typeface="Raleway"/>
              </a:rPr>
              <a:t>• Campaign setup &amp; optimization</a:t>
            </a:r>
          </a:p>
          <a:p>
            <a:pPr algn="l">
              <a:lnSpc>
                <a:spcPts val="3805"/>
              </a:lnSpc>
            </a:pPr>
            <a:r>
              <a:rPr lang="en-US" sz="2718">
                <a:solidFill>
                  <a:srgbClr val="FFFFFA"/>
                </a:solidFill>
                <a:latin typeface="Raleway"/>
                <a:ea typeface="Raleway"/>
                <a:cs typeface="Raleway"/>
                <a:sym typeface="Raleway"/>
              </a:rPr>
              <a:t>• Lead generation campaigns</a:t>
            </a:r>
          </a:p>
          <a:p>
            <a:pPr algn="l">
              <a:lnSpc>
                <a:spcPts val="3805"/>
              </a:lnSpc>
            </a:pPr>
            <a:r>
              <a:rPr lang="en-US" sz="2718">
                <a:solidFill>
                  <a:srgbClr val="FFFFFA"/>
                </a:solidFill>
                <a:latin typeface="Raleway"/>
                <a:ea typeface="Raleway"/>
                <a:cs typeface="Raleway"/>
                <a:sym typeface="Raleway"/>
              </a:rPr>
              <a:t>• Conversion tracking</a:t>
            </a:r>
          </a:p>
          <a:p>
            <a:pPr algn="l">
              <a:lnSpc>
                <a:spcPts val="3805"/>
              </a:lnSpc>
            </a:pPr>
            <a:r>
              <a:rPr lang="en-US" sz="2718">
                <a:solidFill>
                  <a:srgbClr val="FFFFFA"/>
                </a:solidFill>
                <a:latin typeface="Raleway"/>
                <a:ea typeface="Raleway"/>
                <a:cs typeface="Raleway"/>
                <a:sym typeface="Raleway"/>
              </a:rPr>
              <a:t>• Retargeting strategies</a:t>
            </a:r>
          </a:p>
          <a:p>
            <a:pPr algn="l">
              <a:lnSpc>
                <a:spcPts val="3805"/>
              </a:lnSpc>
            </a:pPr>
            <a:r>
              <a:rPr lang="en-US" sz="2718">
                <a:solidFill>
                  <a:srgbClr val="FFFFFA"/>
                </a:solidFill>
                <a:latin typeface="Raleway"/>
                <a:ea typeface="Raleway"/>
                <a:cs typeface="Raleway"/>
                <a:sym typeface="Raleway"/>
              </a:rPr>
              <a:t>• Funnel building</a:t>
            </a:r>
          </a:p>
          <a:p>
            <a:pPr algn="l">
              <a:lnSpc>
                <a:spcPts val="3805"/>
              </a:lnSpc>
            </a:pPr>
            <a:r>
              <a:rPr lang="en-US" sz="2718">
                <a:solidFill>
                  <a:srgbClr val="FFFFFA"/>
                </a:solidFill>
                <a:latin typeface="Raleway"/>
                <a:ea typeface="Raleway"/>
                <a:cs typeface="Raleway"/>
                <a:sym typeface="Raleway"/>
              </a:rPr>
              <a:t>Platforms: Google Ads | Meta Ads | YouTube | TikTok Ads</a:t>
            </a:r>
          </a:p>
        </p:txBody>
      </p:sp>
      <p:sp>
        <p:nvSpPr>
          <p:cNvPr id="30" name="TextBox 30"/>
          <p:cNvSpPr txBox="1"/>
          <p:nvPr/>
        </p:nvSpPr>
        <p:spPr>
          <a:xfrm>
            <a:off x="2952328" y="2621549"/>
            <a:ext cx="186184"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1</a:t>
            </a:r>
          </a:p>
        </p:txBody>
      </p:sp>
      <p:sp>
        <p:nvSpPr>
          <p:cNvPr id="31" name="TextBox 31"/>
          <p:cNvSpPr txBox="1"/>
          <p:nvPr/>
        </p:nvSpPr>
        <p:spPr>
          <a:xfrm>
            <a:off x="2946970" y="6256882"/>
            <a:ext cx="196900"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3368215" y="2571279"/>
            <a:ext cx="3051694" cy="6038301"/>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324" r="-112324"/>
              </a:stretch>
            </a:blipFill>
          </p:spPr>
          <p:txBody>
            <a:bodyPr/>
            <a:lstStyle/>
            <a:p>
              <a:endParaRPr lang="en-US"/>
            </a:p>
          </p:txBody>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6" name="Freeform 16"/>
          <p:cNvSpPr/>
          <p:nvPr/>
        </p:nvSpPr>
        <p:spPr>
          <a:xfrm>
            <a:off x="1664203" y="737041"/>
            <a:ext cx="1425528" cy="993922"/>
          </a:xfrm>
          <a:custGeom>
            <a:avLst/>
            <a:gdLst/>
            <a:ahLst/>
            <a:cxnLst/>
            <a:rect l="l" t="t" r="r" b="b"/>
            <a:pathLst>
              <a:path w="1425528" h="993922">
                <a:moveTo>
                  <a:pt x="0" y="0"/>
                </a:moveTo>
                <a:lnTo>
                  <a:pt x="1425529" y="0"/>
                </a:lnTo>
                <a:lnTo>
                  <a:pt x="1425529" y="993922"/>
                </a:lnTo>
                <a:lnTo>
                  <a:pt x="0" y="9939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5</a:t>
            </a:r>
          </a:p>
        </p:txBody>
      </p:sp>
      <p:sp>
        <p:nvSpPr>
          <p:cNvPr id="18" name="TextBox 18"/>
          <p:cNvSpPr txBox="1"/>
          <p:nvPr/>
        </p:nvSpPr>
        <p:spPr>
          <a:xfrm>
            <a:off x="4307730" y="704976"/>
            <a:ext cx="10012976" cy="1172352"/>
          </a:xfrm>
          <a:prstGeom prst="rect">
            <a:avLst/>
          </a:prstGeom>
        </p:spPr>
        <p:txBody>
          <a:bodyPr lIns="0" tIns="0" rIns="0" bIns="0" rtlCol="0" anchor="t">
            <a:spAutoFit/>
          </a:bodyPr>
          <a:lstStyle/>
          <a:p>
            <a:pPr algn="l">
              <a:lnSpc>
                <a:spcPts val="8814"/>
              </a:lnSpc>
              <a:spcBef>
                <a:spcPct val="0"/>
              </a:spcBef>
            </a:pPr>
            <a:r>
              <a:rPr lang="en-US" sz="8475" b="1">
                <a:solidFill>
                  <a:srgbClr val="C6269E"/>
                </a:solidFill>
                <a:latin typeface="Raleway Heavy"/>
                <a:ea typeface="Raleway Heavy"/>
                <a:cs typeface="Raleway Heavy"/>
                <a:sym typeface="Raleway Heavy"/>
              </a:rPr>
              <a:t>services we offer</a:t>
            </a:r>
          </a:p>
        </p:txBody>
      </p:sp>
      <p:sp>
        <p:nvSpPr>
          <p:cNvPr id="19" name="TextBox 19"/>
          <p:cNvSpPr txBox="1"/>
          <p:nvPr/>
        </p:nvSpPr>
        <p:spPr>
          <a:xfrm>
            <a:off x="3666206" y="2437929"/>
            <a:ext cx="9702010" cy="1306065"/>
          </a:xfrm>
          <a:prstGeom prst="rect">
            <a:avLst/>
          </a:prstGeom>
        </p:spPr>
        <p:txBody>
          <a:bodyPr lIns="0" tIns="0" rIns="0" bIns="0" rtlCol="0" anchor="t">
            <a:spAutoFit/>
          </a:bodyPr>
          <a:lstStyle/>
          <a:p>
            <a:pPr algn="l">
              <a:lnSpc>
                <a:spcPts val="5187"/>
              </a:lnSpc>
            </a:pPr>
            <a:r>
              <a:rPr lang="en-US" sz="3705" b="1">
                <a:solidFill>
                  <a:srgbClr val="FFFFFA"/>
                </a:solidFill>
                <a:latin typeface="Raleway Bold"/>
                <a:ea typeface="Raleway Bold"/>
                <a:cs typeface="Raleway Bold"/>
                <a:sym typeface="Raleway Bold"/>
              </a:rPr>
              <a:t>Search Engine Optimization (SEO)</a:t>
            </a:r>
          </a:p>
          <a:p>
            <a:pPr algn="l">
              <a:lnSpc>
                <a:spcPts val="5187"/>
              </a:lnSpc>
            </a:pPr>
            <a:endParaRPr lang="en-US" sz="3705" b="1">
              <a:solidFill>
                <a:srgbClr val="FFFFFA"/>
              </a:solidFill>
              <a:latin typeface="Raleway Bold"/>
              <a:ea typeface="Raleway Bold"/>
              <a:cs typeface="Raleway Bold"/>
              <a:sym typeface="Raleway Bold"/>
            </a:endParaRPr>
          </a:p>
        </p:txBody>
      </p:sp>
      <p:sp>
        <p:nvSpPr>
          <p:cNvPr id="20" name="TextBox 20"/>
          <p:cNvSpPr txBox="1"/>
          <p:nvPr/>
        </p:nvSpPr>
        <p:spPr>
          <a:xfrm>
            <a:off x="3666206" y="6406351"/>
            <a:ext cx="8273541" cy="1306065"/>
          </a:xfrm>
          <a:prstGeom prst="rect">
            <a:avLst/>
          </a:prstGeom>
        </p:spPr>
        <p:txBody>
          <a:bodyPr lIns="0" tIns="0" rIns="0" bIns="0" rtlCol="0" anchor="t">
            <a:spAutoFit/>
          </a:bodyPr>
          <a:lstStyle/>
          <a:p>
            <a:pPr algn="l">
              <a:lnSpc>
                <a:spcPts val="5187"/>
              </a:lnSpc>
            </a:pPr>
            <a:r>
              <a:rPr lang="en-US" sz="3705" b="1">
                <a:solidFill>
                  <a:srgbClr val="FFFFFA"/>
                </a:solidFill>
                <a:latin typeface="Raleway Bold"/>
                <a:ea typeface="Raleway Bold"/>
                <a:cs typeface="Raleway Bold"/>
                <a:sym typeface="Raleway Bold"/>
              </a:rPr>
              <a:t>Content creation </a:t>
            </a:r>
          </a:p>
          <a:p>
            <a:pPr algn="l">
              <a:lnSpc>
                <a:spcPts val="5187"/>
              </a:lnSpc>
            </a:pPr>
            <a:endParaRPr lang="en-US" sz="3705" b="1">
              <a:solidFill>
                <a:srgbClr val="FFFFFA"/>
              </a:solidFill>
              <a:latin typeface="Raleway Bold"/>
              <a:ea typeface="Raleway Bold"/>
              <a:cs typeface="Raleway Bold"/>
              <a:sym typeface="Raleway Bold"/>
            </a:endParaRPr>
          </a:p>
        </p:txBody>
      </p:sp>
      <p:sp>
        <p:nvSpPr>
          <p:cNvPr id="21" name="TextBox 21"/>
          <p:cNvSpPr txBox="1"/>
          <p:nvPr/>
        </p:nvSpPr>
        <p:spPr>
          <a:xfrm>
            <a:off x="4412758" y="3190339"/>
            <a:ext cx="12612974" cy="3190408"/>
          </a:xfrm>
          <a:prstGeom prst="rect">
            <a:avLst/>
          </a:prstGeom>
        </p:spPr>
        <p:txBody>
          <a:bodyPr lIns="0" tIns="0" rIns="0" bIns="0" rtlCol="0" anchor="t">
            <a:spAutoFit/>
          </a:bodyPr>
          <a:lstStyle/>
          <a:p>
            <a:pPr algn="l">
              <a:lnSpc>
                <a:spcPts val="4225"/>
              </a:lnSpc>
            </a:pPr>
            <a:r>
              <a:rPr lang="en-US" sz="3018">
                <a:solidFill>
                  <a:srgbClr val="FFFFFA"/>
                </a:solidFill>
                <a:latin typeface="Raleway"/>
                <a:ea typeface="Raleway"/>
                <a:cs typeface="Raleway"/>
                <a:sym typeface="Raleway"/>
              </a:rPr>
              <a:t>• On-page SEO</a:t>
            </a:r>
          </a:p>
          <a:p>
            <a:pPr algn="l">
              <a:lnSpc>
                <a:spcPts val="4225"/>
              </a:lnSpc>
            </a:pPr>
            <a:r>
              <a:rPr lang="en-US" sz="3018">
                <a:solidFill>
                  <a:srgbClr val="FFFFFA"/>
                </a:solidFill>
                <a:latin typeface="Raleway"/>
                <a:ea typeface="Raleway"/>
                <a:cs typeface="Raleway"/>
                <a:sym typeface="Raleway"/>
              </a:rPr>
              <a:t>• Off-page SEO</a:t>
            </a:r>
          </a:p>
          <a:p>
            <a:pPr algn="l">
              <a:lnSpc>
                <a:spcPts val="4225"/>
              </a:lnSpc>
            </a:pPr>
            <a:r>
              <a:rPr lang="en-US" sz="3018">
                <a:solidFill>
                  <a:srgbClr val="FFFFFA"/>
                </a:solidFill>
                <a:latin typeface="Raleway"/>
                <a:ea typeface="Raleway"/>
                <a:cs typeface="Raleway"/>
                <a:sym typeface="Raleway"/>
              </a:rPr>
              <a:t>• Technical SEO</a:t>
            </a:r>
          </a:p>
          <a:p>
            <a:pPr algn="l">
              <a:lnSpc>
                <a:spcPts val="4225"/>
              </a:lnSpc>
            </a:pPr>
            <a:r>
              <a:rPr lang="en-US" sz="3018">
                <a:solidFill>
                  <a:srgbClr val="FFFFFA"/>
                </a:solidFill>
                <a:latin typeface="Raleway"/>
                <a:ea typeface="Raleway"/>
                <a:cs typeface="Raleway"/>
                <a:sym typeface="Raleway"/>
              </a:rPr>
              <a:t>• Keyword research</a:t>
            </a:r>
          </a:p>
          <a:p>
            <a:pPr algn="l">
              <a:lnSpc>
                <a:spcPts val="4225"/>
              </a:lnSpc>
            </a:pPr>
            <a:r>
              <a:rPr lang="en-US" sz="3018">
                <a:solidFill>
                  <a:srgbClr val="FFFFFA"/>
                </a:solidFill>
                <a:latin typeface="Raleway"/>
                <a:ea typeface="Raleway"/>
                <a:cs typeface="Raleway"/>
                <a:sym typeface="Raleway"/>
              </a:rPr>
              <a:t>• Local SEO</a:t>
            </a:r>
          </a:p>
          <a:p>
            <a:pPr algn="l">
              <a:lnSpc>
                <a:spcPts val="4225"/>
              </a:lnSpc>
            </a:pPr>
            <a:r>
              <a:rPr lang="en-US" sz="3018">
                <a:solidFill>
                  <a:srgbClr val="FFFFFA"/>
                </a:solidFill>
                <a:latin typeface="Raleway"/>
                <a:ea typeface="Raleway"/>
                <a:cs typeface="Raleway"/>
                <a:sym typeface="Raleway"/>
              </a:rPr>
              <a:t>• SEO audits</a:t>
            </a:r>
          </a:p>
        </p:txBody>
      </p:sp>
      <p:sp>
        <p:nvSpPr>
          <p:cNvPr id="22" name="TextBox 22"/>
          <p:cNvSpPr txBox="1"/>
          <p:nvPr/>
        </p:nvSpPr>
        <p:spPr>
          <a:xfrm>
            <a:off x="4412758" y="7144217"/>
            <a:ext cx="12612974" cy="2123608"/>
          </a:xfrm>
          <a:prstGeom prst="rect">
            <a:avLst/>
          </a:prstGeom>
        </p:spPr>
        <p:txBody>
          <a:bodyPr lIns="0" tIns="0" rIns="0" bIns="0" rtlCol="0" anchor="t">
            <a:spAutoFit/>
          </a:bodyPr>
          <a:lstStyle/>
          <a:p>
            <a:pPr algn="l">
              <a:lnSpc>
                <a:spcPts val="4225"/>
              </a:lnSpc>
            </a:pPr>
            <a:r>
              <a:rPr lang="en-US" sz="3018">
                <a:solidFill>
                  <a:srgbClr val="FFFFFA"/>
                </a:solidFill>
                <a:latin typeface="Raleway"/>
                <a:ea typeface="Raleway"/>
                <a:cs typeface="Raleway"/>
                <a:sym typeface="Raleway"/>
              </a:rPr>
              <a:t>• Website content</a:t>
            </a:r>
          </a:p>
          <a:p>
            <a:pPr algn="l">
              <a:lnSpc>
                <a:spcPts val="4225"/>
              </a:lnSpc>
            </a:pPr>
            <a:r>
              <a:rPr lang="en-US" sz="3018">
                <a:solidFill>
                  <a:srgbClr val="FFFFFA"/>
                </a:solidFill>
                <a:latin typeface="Raleway"/>
                <a:ea typeface="Raleway"/>
                <a:cs typeface="Raleway"/>
                <a:sym typeface="Raleway"/>
              </a:rPr>
              <a:t>• Copywriting</a:t>
            </a:r>
          </a:p>
          <a:p>
            <a:pPr algn="l">
              <a:lnSpc>
                <a:spcPts val="4225"/>
              </a:lnSpc>
            </a:pPr>
            <a:r>
              <a:rPr lang="en-US" sz="3018">
                <a:solidFill>
                  <a:srgbClr val="FFFFFA"/>
                </a:solidFill>
                <a:latin typeface="Raleway"/>
                <a:ea typeface="Raleway"/>
                <a:cs typeface="Raleway"/>
                <a:sym typeface="Raleway"/>
              </a:rPr>
              <a:t>• Video scripts</a:t>
            </a:r>
          </a:p>
          <a:p>
            <a:pPr algn="l">
              <a:lnSpc>
                <a:spcPts val="4225"/>
              </a:lnSpc>
            </a:pPr>
            <a:r>
              <a:rPr lang="en-US" sz="3018">
                <a:solidFill>
                  <a:srgbClr val="FFFFFA"/>
                </a:solidFill>
                <a:latin typeface="Raleway"/>
                <a:ea typeface="Raleway"/>
                <a:cs typeface="Raleway"/>
                <a:sym typeface="Raleway"/>
              </a:rPr>
              <a:t>• Content strategy</a:t>
            </a:r>
          </a:p>
        </p:txBody>
      </p:sp>
      <p:grpSp>
        <p:nvGrpSpPr>
          <p:cNvPr id="23" name="Group 23"/>
          <p:cNvGrpSpPr/>
          <p:nvPr/>
        </p:nvGrpSpPr>
        <p:grpSpPr>
          <a:xfrm rot="2087854">
            <a:off x="2659103" y="2480627"/>
            <a:ext cx="615450" cy="6154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6" name="Group 26"/>
          <p:cNvGrpSpPr/>
          <p:nvPr/>
        </p:nvGrpSpPr>
        <p:grpSpPr>
          <a:xfrm rot="2087854">
            <a:off x="2706728" y="6539430"/>
            <a:ext cx="615450" cy="6154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8" name="TextBox 2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9" name="TextBox 29"/>
          <p:cNvSpPr txBox="1"/>
          <p:nvPr/>
        </p:nvSpPr>
        <p:spPr>
          <a:xfrm>
            <a:off x="2853272" y="2523654"/>
            <a:ext cx="208806"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3</a:t>
            </a:r>
          </a:p>
        </p:txBody>
      </p:sp>
      <p:sp>
        <p:nvSpPr>
          <p:cNvPr id="30" name="TextBox 30"/>
          <p:cNvSpPr txBox="1"/>
          <p:nvPr/>
        </p:nvSpPr>
        <p:spPr>
          <a:xfrm>
            <a:off x="2904469" y="6562690"/>
            <a:ext cx="219968"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3875164" y="2049647"/>
            <a:ext cx="3030520" cy="5996405"/>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324" r="-112324"/>
              </a:stretch>
            </a:blipFill>
          </p:spPr>
          <p:txBody>
            <a:bodyPr/>
            <a:lstStyle/>
            <a:p>
              <a:endParaRPr lang="en-US"/>
            </a:p>
          </p:txBody>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txBody>
            <a:bodyPr/>
            <a:lstStyle/>
            <a:p>
              <a:endParaRPr lang="en-US"/>
            </a:p>
          </p:txBody>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6" name="Freeform 16"/>
          <p:cNvSpPr/>
          <p:nvPr/>
        </p:nvSpPr>
        <p:spPr>
          <a:xfrm>
            <a:off x="1664203" y="737041"/>
            <a:ext cx="1425528" cy="993922"/>
          </a:xfrm>
          <a:custGeom>
            <a:avLst/>
            <a:gdLst/>
            <a:ahLst/>
            <a:cxnLst/>
            <a:rect l="l" t="t" r="r" b="b"/>
            <a:pathLst>
              <a:path w="1425528" h="993922">
                <a:moveTo>
                  <a:pt x="0" y="0"/>
                </a:moveTo>
                <a:lnTo>
                  <a:pt x="1425529" y="0"/>
                </a:lnTo>
                <a:lnTo>
                  <a:pt x="1425529" y="993922"/>
                </a:lnTo>
                <a:lnTo>
                  <a:pt x="0" y="9939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6</a:t>
            </a:r>
          </a:p>
        </p:txBody>
      </p:sp>
      <p:sp>
        <p:nvSpPr>
          <p:cNvPr id="18" name="TextBox 18"/>
          <p:cNvSpPr txBox="1"/>
          <p:nvPr/>
        </p:nvSpPr>
        <p:spPr>
          <a:xfrm>
            <a:off x="4307730" y="704976"/>
            <a:ext cx="10012976" cy="1172352"/>
          </a:xfrm>
          <a:prstGeom prst="rect">
            <a:avLst/>
          </a:prstGeom>
        </p:spPr>
        <p:txBody>
          <a:bodyPr lIns="0" tIns="0" rIns="0" bIns="0" rtlCol="0" anchor="t">
            <a:spAutoFit/>
          </a:bodyPr>
          <a:lstStyle/>
          <a:p>
            <a:pPr algn="l">
              <a:lnSpc>
                <a:spcPts val="8814"/>
              </a:lnSpc>
              <a:spcBef>
                <a:spcPct val="0"/>
              </a:spcBef>
            </a:pPr>
            <a:r>
              <a:rPr lang="en-US" sz="8475" b="1">
                <a:solidFill>
                  <a:srgbClr val="C6269E"/>
                </a:solidFill>
                <a:latin typeface="Raleway Heavy"/>
                <a:ea typeface="Raleway Heavy"/>
                <a:cs typeface="Raleway Heavy"/>
                <a:sym typeface="Raleway Heavy"/>
              </a:rPr>
              <a:t>services we offer</a:t>
            </a:r>
          </a:p>
        </p:txBody>
      </p:sp>
      <p:sp>
        <p:nvSpPr>
          <p:cNvPr id="19" name="TextBox 19"/>
          <p:cNvSpPr txBox="1"/>
          <p:nvPr/>
        </p:nvSpPr>
        <p:spPr>
          <a:xfrm>
            <a:off x="3232607" y="2301703"/>
            <a:ext cx="7022407" cy="1234945"/>
          </a:xfrm>
          <a:prstGeom prst="rect">
            <a:avLst/>
          </a:prstGeom>
        </p:spPr>
        <p:txBody>
          <a:bodyPr lIns="0" tIns="0" rIns="0" bIns="0" rtlCol="0" anchor="t">
            <a:spAutoFit/>
          </a:bodyPr>
          <a:lstStyle/>
          <a:p>
            <a:pPr algn="l">
              <a:lnSpc>
                <a:spcPts val="4907"/>
              </a:lnSpc>
            </a:pPr>
            <a:r>
              <a:rPr lang="en-US" sz="3505" b="1">
                <a:solidFill>
                  <a:srgbClr val="FFFFFA"/>
                </a:solidFill>
                <a:latin typeface="Raleway Bold"/>
                <a:ea typeface="Raleway Bold"/>
                <a:cs typeface="Raleway Bold"/>
                <a:sym typeface="Raleway Bold"/>
              </a:rPr>
              <a:t>Branding &amp; Creative Services</a:t>
            </a:r>
          </a:p>
          <a:p>
            <a:pPr algn="l">
              <a:lnSpc>
                <a:spcPts val="4907"/>
              </a:lnSpc>
            </a:pPr>
            <a:endParaRPr lang="en-US" sz="3505" b="1">
              <a:solidFill>
                <a:srgbClr val="FFFFFA"/>
              </a:solidFill>
              <a:latin typeface="Raleway Bold"/>
              <a:ea typeface="Raleway Bold"/>
              <a:cs typeface="Raleway Bold"/>
              <a:sym typeface="Raleway Bold"/>
            </a:endParaRPr>
          </a:p>
        </p:txBody>
      </p:sp>
      <p:sp>
        <p:nvSpPr>
          <p:cNvPr id="20" name="TextBox 20"/>
          <p:cNvSpPr txBox="1"/>
          <p:nvPr/>
        </p:nvSpPr>
        <p:spPr>
          <a:xfrm>
            <a:off x="3089732" y="5855513"/>
            <a:ext cx="8273541" cy="1234945"/>
          </a:xfrm>
          <a:prstGeom prst="rect">
            <a:avLst/>
          </a:prstGeom>
        </p:spPr>
        <p:txBody>
          <a:bodyPr lIns="0" tIns="0" rIns="0" bIns="0" rtlCol="0" anchor="t">
            <a:spAutoFit/>
          </a:bodyPr>
          <a:lstStyle/>
          <a:p>
            <a:pPr algn="l">
              <a:lnSpc>
                <a:spcPts val="4907"/>
              </a:lnSpc>
            </a:pPr>
            <a:r>
              <a:rPr lang="en-US" sz="3505" b="1">
                <a:solidFill>
                  <a:srgbClr val="FFFFFA"/>
                </a:solidFill>
                <a:latin typeface="Raleway Bold"/>
                <a:ea typeface="Raleway Bold"/>
                <a:cs typeface="Raleway Bold"/>
                <a:sym typeface="Raleway Bold"/>
              </a:rPr>
              <a:t> Marketing Strategy &amp; Consulting</a:t>
            </a:r>
          </a:p>
          <a:p>
            <a:pPr algn="l">
              <a:lnSpc>
                <a:spcPts val="4907"/>
              </a:lnSpc>
            </a:pPr>
            <a:endParaRPr lang="en-US" sz="3505" b="1">
              <a:solidFill>
                <a:srgbClr val="FFFFFA"/>
              </a:solidFill>
              <a:latin typeface="Raleway Bold"/>
              <a:ea typeface="Raleway Bold"/>
              <a:cs typeface="Raleway Bold"/>
              <a:sym typeface="Raleway Bold"/>
            </a:endParaRPr>
          </a:p>
        </p:txBody>
      </p:sp>
      <p:sp>
        <p:nvSpPr>
          <p:cNvPr id="21" name="TextBox 21"/>
          <p:cNvSpPr txBox="1"/>
          <p:nvPr/>
        </p:nvSpPr>
        <p:spPr>
          <a:xfrm>
            <a:off x="3910043" y="3047530"/>
            <a:ext cx="13783317" cy="2657008"/>
          </a:xfrm>
          <a:prstGeom prst="rect">
            <a:avLst/>
          </a:prstGeom>
        </p:spPr>
        <p:txBody>
          <a:bodyPr lIns="0" tIns="0" rIns="0" bIns="0" rtlCol="0" anchor="t">
            <a:spAutoFit/>
          </a:bodyPr>
          <a:lstStyle/>
          <a:p>
            <a:pPr algn="l">
              <a:lnSpc>
                <a:spcPts val="4225"/>
              </a:lnSpc>
            </a:pPr>
            <a:r>
              <a:rPr lang="en-US" sz="3018">
                <a:solidFill>
                  <a:srgbClr val="FFFFFA"/>
                </a:solidFill>
                <a:latin typeface="Raleway"/>
                <a:ea typeface="Raleway"/>
                <a:cs typeface="Raleway"/>
                <a:sym typeface="Raleway"/>
              </a:rPr>
              <a:t>• Brand identity development</a:t>
            </a:r>
          </a:p>
          <a:p>
            <a:pPr algn="l">
              <a:lnSpc>
                <a:spcPts val="4225"/>
              </a:lnSpc>
            </a:pPr>
            <a:r>
              <a:rPr lang="en-US" sz="3018">
                <a:solidFill>
                  <a:srgbClr val="FFFFFA"/>
                </a:solidFill>
                <a:latin typeface="Raleway"/>
                <a:ea typeface="Raleway"/>
                <a:cs typeface="Raleway"/>
                <a:sym typeface="Raleway"/>
              </a:rPr>
              <a:t>• Logo design</a:t>
            </a:r>
          </a:p>
          <a:p>
            <a:pPr algn="l">
              <a:lnSpc>
                <a:spcPts val="4225"/>
              </a:lnSpc>
            </a:pPr>
            <a:r>
              <a:rPr lang="en-US" sz="3018">
                <a:solidFill>
                  <a:srgbClr val="FFFFFA"/>
                </a:solidFill>
                <a:latin typeface="Raleway"/>
                <a:ea typeface="Raleway"/>
                <a:cs typeface="Raleway"/>
                <a:sym typeface="Raleway"/>
              </a:rPr>
              <a:t>• Brand positioning</a:t>
            </a:r>
          </a:p>
          <a:p>
            <a:pPr algn="l">
              <a:lnSpc>
                <a:spcPts val="4225"/>
              </a:lnSpc>
            </a:pPr>
            <a:r>
              <a:rPr lang="en-US" sz="3018">
                <a:solidFill>
                  <a:srgbClr val="FFFFFA"/>
                </a:solidFill>
                <a:latin typeface="Raleway"/>
                <a:ea typeface="Raleway"/>
                <a:cs typeface="Raleway"/>
                <a:sym typeface="Raleway"/>
              </a:rPr>
              <a:t>• Visual identity</a:t>
            </a:r>
          </a:p>
          <a:p>
            <a:pPr algn="l">
              <a:lnSpc>
                <a:spcPts val="4225"/>
              </a:lnSpc>
            </a:pPr>
            <a:r>
              <a:rPr lang="en-US" sz="3018">
                <a:solidFill>
                  <a:srgbClr val="FFFFFA"/>
                </a:solidFill>
                <a:latin typeface="Raleway"/>
                <a:ea typeface="Raleway"/>
                <a:cs typeface="Raleway"/>
                <a:sym typeface="Raleway"/>
              </a:rPr>
              <a:t>• Marketing materials design</a:t>
            </a:r>
          </a:p>
        </p:txBody>
      </p:sp>
      <p:sp>
        <p:nvSpPr>
          <p:cNvPr id="22" name="TextBox 22"/>
          <p:cNvSpPr txBox="1"/>
          <p:nvPr/>
        </p:nvSpPr>
        <p:spPr>
          <a:xfrm>
            <a:off x="3910043" y="6684211"/>
            <a:ext cx="13783317" cy="2657008"/>
          </a:xfrm>
          <a:prstGeom prst="rect">
            <a:avLst/>
          </a:prstGeom>
        </p:spPr>
        <p:txBody>
          <a:bodyPr lIns="0" tIns="0" rIns="0" bIns="0" rtlCol="0" anchor="t">
            <a:spAutoFit/>
          </a:bodyPr>
          <a:lstStyle/>
          <a:p>
            <a:pPr algn="l">
              <a:lnSpc>
                <a:spcPts val="4225"/>
              </a:lnSpc>
            </a:pPr>
            <a:r>
              <a:rPr lang="en-US" sz="3018">
                <a:solidFill>
                  <a:srgbClr val="FFFFFA"/>
                </a:solidFill>
                <a:latin typeface="Raleway"/>
                <a:ea typeface="Raleway"/>
                <a:cs typeface="Raleway"/>
                <a:sym typeface="Raleway"/>
              </a:rPr>
              <a:t>• Digital strategy roadmap</a:t>
            </a:r>
          </a:p>
          <a:p>
            <a:pPr algn="l">
              <a:lnSpc>
                <a:spcPts val="4225"/>
              </a:lnSpc>
            </a:pPr>
            <a:r>
              <a:rPr lang="en-US" sz="3018">
                <a:solidFill>
                  <a:srgbClr val="FFFFFA"/>
                </a:solidFill>
                <a:latin typeface="Raleway"/>
                <a:ea typeface="Raleway"/>
                <a:cs typeface="Raleway"/>
                <a:sym typeface="Raleway"/>
              </a:rPr>
              <a:t>• Competitor analysis</a:t>
            </a:r>
          </a:p>
          <a:p>
            <a:pPr algn="l">
              <a:lnSpc>
                <a:spcPts val="4225"/>
              </a:lnSpc>
            </a:pPr>
            <a:r>
              <a:rPr lang="en-US" sz="3018">
                <a:solidFill>
                  <a:srgbClr val="FFFFFA"/>
                </a:solidFill>
                <a:latin typeface="Raleway"/>
                <a:ea typeface="Raleway"/>
                <a:cs typeface="Raleway"/>
                <a:sym typeface="Raleway"/>
              </a:rPr>
              <a:t>• Market research</a:t>
            </a:r>
          </a:p>
          <a:p>
            <a:pPr algn="l">
              <a:lnSpc>
                <a:spcPts val="4225"/>
              </a:lnSpc>
            </a:pPr>
            <a:r>
              <a:rPr lang="en-US" sz="3018">
                <a:solidFill>
                  <a:srgbClr val="FFFFFA"/>
                </a:solidFill>
                <a:latin typeface="Raleway"/>
                <a:ea typeface="Raleway"/>
                <a:cs typeface="Raleway"/>
                <a:sym typeface="Raleway"/>
              </a:rPr>
              <a:t>• Marketing audits</a:t>
            </a:r>
          </a:p>
          <a:p>
            <a:pPr algn="l">
              <a:lnSpc>
                <a:spcPts val="4225"/>
              </a:lnSpc>
            </a:pPr>
            <a:r>
              <a:rPr lang="en-US" sz="3018">
                <a:solidFill>
                  <a:srgbClr val="FFFFFA"/>
                </a:solidFill>
                <a:latin typeface="Raleway"/>
                <a:ea typeface="Raleway"/>
                <a:cs typeface="Raleway"/>
                <a:sym typeface="Raleway"/>
              </a:rPr>
              <a:t>• KPI planning &amp; tracking</a:t>
            </a:r>
          </a:p>
        </p:txBody>
      </p:sp>
      <p:grpSp>
        <p:nvGrpSpPr>
          <p:cNvPr id="23" name="Group 23"/>
          <p:cNvGrpSpPr/>
          <p:nvPr/>
        </p:nvGrpSpPr>
        <p:grpSpPr>
          <a:xfrm rot="2087854">
            <a:off x="2353699" y="2359122"/>
            <a:ext cx="615450" cy="6154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26" name="Group 26"/>
          <p:cNvGrpSpPr/>
          <p:nvPr/>
        </p:nvGrpSpPr>
        <p:grpSpPr>
          <a:xfrm rot="2087854">
            <a:off x="2315599" y="5863220"/>
            <a:ext cx="615450" cy="6154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F5DFF0">
                      <a:alpha val="3500"/>
                    </a:srgbClr>
                  </a:gs>
                  <a:gs pos="100000">
                    <a:srgbClr val="C6269E">
                      <a:alpha val="100000"/>
                    </a:srgbClr>
                  </a:gs>
                </a:gsLst>
                <a:lin ang="0"/>
              </a:gradFill>
              <a:prstDash val="solid"/>
              <a:miter/>
            </a:ln>
          </p:spPr>
          <p:txBody>
            <a:bodyPr/>
            <a:lstStyle/>
            <a:p>
              <a:endParaRPr lang="en-US"/>
            </a:p>
          </p:txBody>
        </p:sp>
        <p:sp>
          <p:nvSpPr>
            <p:cNvPr id="28" name="TextBox 2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9" name="TextBox 29"/>
          <p:cNvSpPr txBox="1"/>
          <p:nvPr/>
        </p:nvSpPr>
        <p:spPr>
          <a:xfrm>
            <a:off x="2555086" y="2411674"/>
            <a:ext cx="212675"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5</a:t>
            </a:r>
          </a:p>
        </p:txBody>
      </p:sp>
      <p:sp>
        <p:nvSpPr>
          <p:cNvPr id="30" name="TextBox 30"/>
          <p:cNvSpPr txBox="1"/>
          <p:nvPr/>
        </p:nvSpPr>
        <p:spPr>
          <a:xfrm>
            <a:off x="2508726" y="5915772"/>
            <a:ext cx="229195" cy="462721"/>
          </a:xfrm>
          <a:prstGeom prst="rect">
            <a:avLst/>
          </a:prstGeom>
        </p:spPr>
        <p:txBody>
          <a:bodyPr lIns="0" tIns="0" rIns="0" bIns="0" rtlCol="0" anchor="t">
            <a:spAutoFit/>
          </a:bodyPr>
          <a:lstStyle/>
          <a:p>
            <a:pPr algn="ctr">
              <a:lnSpc>
                <a:spcPts val="3895"/>
              </a:lnSpc>
            </a:pPr>
            <a:r>
              <a:rPr lang="en-US" sz="2782" b="1">
                <a:solidFill>
                  <a:srgbClr val="FFFFFF"/>
                </a:solidFill>
                <a:latin typeface="Canva Sans Bold"/>
                <a:ea typeface="Canva Sans Bold"/>
                <a:cs typeface="Canva Sans Bold"/>
                <a:sym typeface="Canva Sans Bol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7241479"/>
            <a:ext cx="17956749" cy="16232393"/>
          </a:xfrm>
          <a:custGeom>
            <a:avLst/>
            <a:gdLst/>
            <a:ahLst/>
            <a:cxnLst/>
            <a:rect l="l" t="t" r="r" b="b"/>
            <a:pathLst>
              <a:path w="17956749" h="16232393">
                <a:moveTo>
                  <a:pt x="0" y="0"/>
                </a:moveTo>
                <a:lnTo>
                  <a:pt x="17956749" y="0"/>
                </a:lnTo>
                <a:lnTo>
                  <a:pt x="17956749" y="16232393"/>
                </a:lnTo>
                <a:lnTo>
                  <a:pt x="0" y="16232393"/>
                </a:lnTo>
                <a:lnTo>
                  <a:pt x="0" y="0"/>
                </a:lnTo>
                <a:close/>
              </a:path>
            </a:pathLst>
          </a:custGeom>
          <a:blipFill>
            <a:blip r:embed="rId2"/>
            <a:stretch>
              <a:fillRect t="-11178"/>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446413" y="3964231"/>
            <a:ext cx="4111902" cy="2358537"/>
            <a:chOff x="0" y="0"/>
            <a:chExt cx="7981950" cy="4578350"/>
          </a:xfrm>
        </p:grpSpPr>
        <p:sp>
          <p:nvSpPr>
            <p:cNvPr id="7" name="Freeform 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txBody>
            <a:bodyPr/>
            <a:lstStyle/>
            <a:p>
              <a:endParaRPr lang="en-US"/>
            </a:p>
          </p:txBody>
        </p:sp>
        <p:sp>
          <p:nvSpPr>
            <p:cNvPr id="8" name="Freeform 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txBody>
            <a:bodyPr/>
            <a:lstStyle/>
            <a:p>
              <a:endParaRPr lang="en-US"/>
            </a:p>
          </p:txBody>
        </p:sp>
        <p:sp>
          <p:nvSpPr>
            <p:cNvPr id="9" name="Freeform 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txBody>
            <a:bodyPr/>
            <a:lstStyle/>
            <a:p>
              <a:endParaRPr lang="en-US"/>
            </a:p>
          </p:txBody>
        </p:sp>
        <p:sp>
          <p:nvSpPr>
            <p:cNvPr id="10" name="Freeform 1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txBody>
            <a:bodyPr/>
            <a:lstStyle/>
            <a:p>
              <a:endParaRPr lang="en-US"/>
            </a:p>
          </p:txBody>
        </p:sp>
        <p:sp>
          <p:nvSpPr>
            <p:cNvPr id="11" name="Freeform 1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4"/>
              <a:stretch>
                <a:fillRect l="-1193" r="-1193"/>
              </a:stretch>
            </a:blipFill>
          </p:spPr>
          <p:txBody>
            <a:bodyPr/>
            <a:lstStyle/>
            <a:p>
              <a:endParaRPr lang="en-US"/>
            </a:p>
          </p:txBody>
        </p:sp>
      </p:grpSp>
      <p:sp>
        <p:nvSpPr>
          <p:cNvPr id="12" name="TextBox 12"/>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7</a:t>
            </a:r>
          </a:p>
        </p:txBody>
      </p:sp>
      <p:sp>
        <p:nvSpPr>
          <p:cNvPr id="13" name="TextBox 13"/>
          <p:cNvSpPr txBox="1"/>
          <p:nvPr/>
        </p:nvSpPr>
        <p:spPr>
          <a:xfrm>
            <a:off x="4558315" y="394938"/>
            <a:ext cx="10382220" cy="1032467"/>
          </a:xfrm>
          <a:prstGeom prst="rect">
            <a:avLst/>
          </a:prstGeom>
        </p:spPr>
        <p:txBody>
          <a:bodyPr lIns="0" tIns="0" rIns="0" bIns="0" rtlCol="0" anchor="t">
            <a:spAutoFit/>
          </a:bodyPr>
          <a:lstStyle/>
          <a:p>
            <a:pPr algn="l">
              <a:lnSpc>
                <a:spcPts val="7774"/>
              </a:lnSpc>
              <a:spcBef>
                <a:spcPct val="0"/>
              </a:spcBef>
            </a:pPr>
            <a:r>
              <a:rPr lang="en-US" sz="7475" b="1">
                <a:solidFill>
                  <a:srgbClr val="C6269E"/>
                </a:solidFill>
                <a:latin typeface="Raleway Heavy"/>
                <a:ea typeface="Raleway Heavy"/>
                <a:cs typeface="Raleway Heavy"/>
                <a:sym typeface="Raleway Heavy"/>
              </a:rPr>
              <a:t>unique selling point </a:t>
            </a:r>
          </a:p>
        </p:txBody>
      </p:sp>
      <p:sp>
        <p:nvSpPr>
          <p:cNvPr id="14" name="TextBox 14"/>
          <p:cNvSpPr txBox="1"/>
          <p:nvPr/>
        </p:nvSpPr>
        <p:spPr>
          <a:xfrm>
            <a:off x="790168" y="1865555"/>
            <a:ext cx="17165320" cy="900139"/>
          </a:xfrm>
          <a:prstGeom prst="rect">
            <a:avLst/>
          </a:prstGeom>
        </p:spPr>
        <p:txBody>
          <a:bodyPr lIns="0" tIns="0" rIns="0" bIns="0" rtlCol="0" anchor="t">
            <a:spAutoFit/>
          </a:bodyPr>
          <a:lstStyle/>
          <a:p>
            <a:pPr algn="l">
              <a:lnSpc>
                <a:spcPts val="3449"/>
              </a:lnSpc>
              <a:spcBef>
                <a:spcPct val="0"/>
              </a:spcBef>
            </a:pPr>
            <a:r>
              <a:rPr lang="en-US" sz="3317">
                <a:solidFill>
                  <a:srgbClr val="FFFFFF"/>
                </a:solidFill>
                <a:latin typeface="Raleway"/>
                <a:ea typeface="Raleway"/>
                <a:cs typeface="Raleway"/>
                <a:sym typeface="Raleway"/>
              </a:rPr>
              <a:t>SPARK Agency specializes 100% in marketing training platforms — including LMS systems, corporate learning solutions, medical training platforms, and EdTech products.</a:t>
            </a:r>
          </a:p>
        </p:txBody>
      </p:sp>
      <p:grpSp>
        <p:nvGrpSpPr>
          <p:cNvPr id="15" name="Group 15"/>
          <p:cNvGrpSpPr/>
          <p:nvPr/>
        </p:nvGrpSpPr>
        <p:grpSpPr>
          <a:xfrm rot="2087854">
            <a:off x="120889" y="3294952"/>
            <a:ext cx="1338558" cy="133855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17" name="TextBox 17"/>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18" name="TextBox 18"/>
          <p:cNvSpPr txBox="1"/>
          <p:nvPr/>
        </p:nvSpPr>
        <p:spPr>
          <a:xfrm>
            <a:off x="4652543" y="3312921"/>
            <a:ext cx="13302945" cy="3689732"/>
          </a:xfrm>
          <a:prstGeom prst="rect">
            <a:avLst/>
          </a:prstGeom>
        </p:spPr>
        <p:txBody>
          <a:bodyPr lIns="0" tIns="0" rIns="0" bIns="0" rtlCol="0" anchor="t">
            <a:spAutoFit/>
          </a:bodyPr>
          <a:lstStyle/>
          <a:p>
            <a:pPr algn="l">
              <a:lnSpc>
                <a:spcPts val="2906"/>
              </a:lnSpc>
            </a:pPr>
            <a:r>
              <a:rPr lang="en-US" sz="2794">
                <a:solidFill>
                  <a:srgbClr val="FFFFFF"/>
                </a:solidFill>
                <a:latin typeface="Raleway"/>
                <a:ea typeface="Raleway"/>
                <a:cs typeface="Raleway"/>
                <a:sym typeface="Raleway"/>
              </a:rPr>
              <a:t>Unlike traditional digital agencies that serve multiple industries, SPARK focuses only on learning‑driven businesses, allowing us to deeply understand:</a:t>
            </a:r>
          </a:p>
          <a:p>
            <a:pPr algn="l">
              <a:lnSpc>
                <a:spcPts val="2906"/>
              </a:lnSpc>
            </a:pPr>
            <a:endParaRPr lang="en-US" sz="2794">
              <a:solidFill>
                <a:srgbClr val="FFFFFF"/>
              </a:solidFill>
              <a:latin typeface="Raleway"/>
              <a:ea typeface="Raleway"/>
              <a:cs typeface="Raleway"/>
              <a:sym typeface="Raleway"/>
            </a:endParaRPr>
          </a:p>
          <a:p>
            <a:pPr marL="603366" lvl="1" indent="-301683" algn="l">
              <a:lnSpc>
                <a:spcPts val="2906"/>
              </a:lnSpc>
              <a:buFont typeface="Arial"/>
              <a:buChar char="•"/>
            </a:pPr>
            <a:r>
              <a:rPr lang="en-US" sz="2794">
                <a:solidFill>
                  <a:srgbClr val="FFFFFF"/>
                </a:solidFill>
                <a:latin typeface="Raleway"/>
                <a:ea typeface="Raleway"/>
                <a:cs typeface="Raleway"/>
                <a:sym typeface="Raleway"/>
              </a:rPr>
              <a:t>Learner behavior</a:t>
            </a:r>
          </a:p>
          <a:p>
            <a:pPr marL="603366" lvl="1" indent="-301683" algn="l">
              <a:lnSpc>
                <a:spcPts val="2906"/>
              </a:lnSpc>
              <a:buFont typeface="Arial"/>
              <a:buChar char="•"/>
            </a:pPr>
            <a:r>
              <a:rPr lang="en-US" sz="2794">
                <a:solidFill>
                  <a:srgbClr val="FFFFFF"/>
                </a:solidFill>
                <a:latin typeface="Raleway"/>
                <a:ea typeface="Raleway"/>
                <a:cs typeface="Raleway"/>
                <a:sym typeface="Raleway"/>
              </a:rPr>
              <a:t>Enrollment decision journeys</a:t>
            </a:r>
          </a:p>
          <a:p>
            <a:pPr marL="603366" lvl="1" indent="-301683" algn="l">
              <a:lnSpc>
                <a:spcPts val="2906"/>
              </a:lnSpc>
              <a:buFont typeface="Arial"/>
              <a:buChar char="•"/>
            </a:pPr>
            <a:r>
              <a:rPr lang="en-US" sz="2794">
                <a:solidFill>
                  <a:srgbClr val="FFFFFF"/>
                </a:solidFill>
                <a:latin typeface="Raleway"/>
                <a:ea typeface="Raleway"/>
                <a:cs typeface="Raleway"/>
                <a:sym typeface="Raleway"/>
              </a:rPr>
              <a:t>Course adoption and completion</a:t>
            </a:r>
          </a:p>
          <a:p>
            <a:pPr marL="603366" lvl="1" indent="-301683" algn="l">
              <a:lnSpc>
                <a:spcPts val="2906"/>
              </a:lnSpc>
              <a:buFont typeface="Arial"/>
              <a:buChar char="•"/>
            </a:pPr>
            <a:r>
              <a:rPr lang="en-US" sz="2794">
                <a:solidFill>
                  <a:srgbClr val="FFFFFF"/>
                </a:solidFill>
                <a:latin typeface="Raleway"/>
                <a:ea typeface="Raleway"/>
                <a:cs typeface="Raleway"/>
                <a:sym typeface="Raleway"/>
              </a:rPr>
              <a:t>Institutional and corporate buying cycles</a:t>
            </a:r>
          </a:p>
          <a:p>
            <a:pPr algn="l">
              <a:lnSpc>
                <a:spcPts val="2906"/>
              </a:lnSpc>
            </a:pPr>
            <a:endParaRPr lang="en-US" sz="2794">
              <a:solidFill>
                <a:srgbClr val="FFFFFF"/>
              </a:solidFill>
              <a:latin typeface="Raleway"/>
              <a:ea typeface="Raleway"/>
              <a:cs typeface="Raleway"/>
              <a:sym typeface="Raleway"/>
            </a:endParaRPr>
          </a:p>
          <a:p>
            <a:pPr algn="l">
              <a:lnSpc>
                <a:spcPts val="2906"/>
              </a:lnSpc>
              <a:spcBef>
                <a:spcPct val="0"/>
              </a:spcBef>
            </a:pPr>
            <a:r>
              <a:rPr lang="en-US" sz="2794">
                <a:solidFill>
                  <a:srgbClr val="FFFFFF"/>
                </a:solidFill>
                <a:latin typeface="Raleway"/>
                <a:ea typeface="Raleway"/>
                <a:cs typeface="Raleway"/>
                <a:sym typeface="Raleway"/>
              </a:rPr>
              <a:t>This specialization enables SPARK to deliver higher‑quality leads, better engagement, and measurable learning growth, not just clicks or impressions.</a:t>
            </a:r>
          </a:p>
        </p:txBody>
      </p:sp>
      <p:sp>
        <p:nvSpPr>
          <p:cNvPr id="19" name="TextBox 19"/>
          <p:cNvSpPr txBox="1"/>
          <p:nvPr/>
        </p:nvSpPr>
        <p:spPr>
          <a:xfrm>
            <a:off x="720928" y="7450329"/>
            <a:ext cx="17165320" cy="900139"/>
          </a:xfrm>
          <a:prstGeom prst="rect">
            <a:avLst/>
          </a:prstGeom>
        </p:spPr>
        <p:txBody>
          <a:bodyPr lIns="0" tIns="0" rIns="0" bIns="0" rtlCol="0" anchor="t">
            <a:spAutoFit/>
          </a:bodyPr>
          <a:lstStyle/>
          <a:p>
            <a:pPr algn="l">
              <a:lnSpc>
                <a:spcPts val="3449"/>
              </a:lnSpc>
              <a:spcBef>
                <a:spcPct val="0"/>
              </a:spcBef>
            </a:pPr>
            <a:r>
              <a:rPr lang="en-US" sz="3317">
                <a:solidFill>
                  <a:srgbClr val="FFFFFF"/>
                </a:solidFill>
                <a:latin typeface="Raleway"/>
                <a:ea typeface="Raleway"/>
                <a:cs typeface="Raleway"/>
                <a:sym typeface="Raleway"/>
              </a:rPr>
              <a:t>SPARK is Egypt’s first marketing agency dedicated exclusively to training platforms and EdTech solutions — we don’t market brands, we grow learning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633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471358" y="3752965"/>
            <a:ext cx="5246370" cy="2807970"/>
            <a:chOff x="0" y="0"/>
            <a:chExt cx="812800" cy="435028"/>
          </a:xfrm>
        </p:grpSpPr>
        <p:sp>
          <p:nvSpPr>
            <p:cNvPr id="7" name="Freeform 7"/>
            <p:cNvSpPr/>
            <p:nvPr/>
          </p:nvSpPr>
          <p:spPr>
            <a:xfrm>
              <a:off x="0" y="0"/>
              <a:ext cx="812800" cy="435028"/>
            </a:xfrm>
            <a:custGeom>
              <a:avLst/>
              <a:gdLst/>
              <a:ahLst/>
              <a:cxnLst/>
              <a:rect l="l" t="t" r="r" b="b"/>
              <a:pathLst>
                <a:path w="812800" h="435028">
                  <a:moveTo>
                    <a:pt x="33940" y="0"/>
                  </a:moveTo>
                  <a:lnTo>
                    <a:pt x="778860" y="0"/>
                  </a:lnTo>
                  <a:cubicBezTo>
                    <a:pt x="797604" y="0"/>
                    <a:pt x="812800" y="15196"/>
                    <a:pt x="812800" y="33940"/>
                  </a:cubicBezTo>
                  <a:lnTo>
                    <a:pt x="812800" y="401088"/>
                  </a:lnTo>
                  <a:cubicBezTo>
                    <a:pt x="812800" y="419832"/>
                    <a:pt x="797604" y="435028"/>
                    <a:pt x="778860" y="435028"/>
                  </a:cubicBezTo>
                  <a:lnTo>
                    <a:pt x="33940" y="435028"/>
                  </a:lnTo>
                  <a:cubicBezTo>
                    <a:pt x="15196" y="435028"/>
                    <a:pt x="0" y="419832"/>
                    <a:pt x="0" y="401088"/>
                  </a:cubicBezTo>
                  <a:lnTo>
                    <a:pt x="0" y="33940"/>
                  </a:lnTo>
                  <a:cubicBezTo>
                    <a:pt x="0" y="15196"/>
                    <a:pt x="15196" y="0"/>
                    <a:pt x="33940" y="0"/>
                  </a:cubicBezTo>
                  <a:close/>
                </a:path>
              </a:pathLst>
            </a:custGeom>
            <a:blipFill>
              <a:blip r:embed="rId4"/>
              <a:stretch>
                <a:fillRect t="-12240" b="-12240"/>
              </a:stretch>
            </a:blipFill>
            <a:ln w="47625" cap="rnd">
              <a:gradFill>
                <a:gsLst>
                  <a:gs pos="0">
                    <a:srgbClr val="C6269E">
                      <a:alpha val="100000"/>
                    </a:srgbClr>
                  </a:gs>
                  <a:gs pos="100000">
                    <a:srgbClr val="DDBAFF">
                      <a:alpha val="12000"/>
                    </a:srgbClr>
                  </a:gs>
                </a:gsLst>
                <a:lin ang="0"/>
              </a:gradFill>
              <a:prstDash val="solid"/>
              <a:round/>
            </a:ln>
          </p:spPr>
          <p:txBody>
            <a:bodyPr/>
            <a:lstStyle/>
            <a:p>
              <a:endParaRPr lang="en-US"/>
            </a:p>
          </p:txBody>
        </p:sp>
      </p:grpSp>
      <p:sp>
        <p:nvSpPr>
          <p:cNvPr id="8" name="TextBox 8"/>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8</a:t>
            </a:r>
          </a:p>
        </p:txBody>
      </p:sp>
      <p:sp>
        <p:nvSpPr>
          <p:cNvPr id="9" name="TextBox 9"/>
          <p:cNvSpPr txBox="1"/>
          <p:nvPr/>
        </p:nvSpPr>
        <p:spPr>
          <a:xfrm>
            <a:off x="1312808" y="504735"/>
            <a:ext cx="6723969" cy="1181281"/>
          </a:xfrm>
          <a:prstGeom prst="rect">
            <a:avLst/>
          </a:prstGeom>
        </p:spPr>
        <p:txBody>
          <a:bodyPr lIns="0" tIns="0" rIns="0" bIns="0" rtlCol="0" anchor="t">
            <a:spAutoFit/>
          </a:bodyPr>
          <a:lstStyle/>
          <a:p>
            <a:pPr algn="l">
              <a:lnSpc>
                <a:spcPts val="8987"/>
              </a:lnSpc>
              <a:spcBef>
                <a:spcPct val="0"/>
              </a:spcBef>
            </a:pPr>
            <a:r>
              <a:rPr lang="en-US" sz="8642" b="1">
                <a:solidFill>
                  <a:srgbClr val="C6269E"/>
                </a:solidFill>
                <a:latin typeface="Raleway Heavy"/>
                <a:ea typeface="Raleway Heavy"/>
                <a:cs typeface="Raleway Heavy"/>
                <a:sym typeface="Raleway Heavy"/>
              </a:rPr>
              <a:t>spark vision </a:t>
            </a:r>
          </a:p>
        </p:txBody>
      </p:sp>
      <p:sp>
        <p:nvSpPr>
          <p:cNvPr id="10" name="TextBox 10"/>
          <p:cNvSpPr txBox="1"/>
          <p:nvPr/>
        </p:nvSpPr>
        <p:spPr>
          <a:xfrm>
            <a:off x="2032557" y="2036650"/>
            <a:ext cx="17685869" cy="1031261"/>
          </a:xfrm>
          <a:prstGeom prst="rect">
            <a:avLst/>
          </a:prstGeom>
        </p:spPr>
        <p:txBody>
          <a:bodyPr lIns="0" tIns="0" rIns="0" bIns="0" rtlCol="0" anchor="t">
            <a:spAutoFit/>
          </a:bodyPr>
          <a:lstStyle/>
          <a:p>
            <a:pPr algn="l">
              <a:lnSpc>
                <a:spcPts val="4031"/>
              </a:lnSpc>
            </a:pPr>
            <a:r>
              <a:rPr lang="en-US" sz="3876" b="1">
                <a:solidFill>
                  <a:srgbClr val="FFFFFA"/>
                </a:solidFill>
                <a:latin typeface="Raleway Bold"/>
                <a:ea typeface="Raleway Bold"/>
                <a:cs typeface="Raleway Bold"/>
                <a:sym typeface="Raleway Bold"/>
              </a:rPr>
              <a:t>"We don't market brands — we grow learning systems."</a:t>
            </a:r>
          </a:p>
          <a:p>
            <a:pPr algn="l">
              <a:lnSpc>
                <a:spcPts val="4031"/>
              </a:lnSpc>
              <a:spcBef>
                <a:spcPct val="0"/>
              </a:spcBef>
            </a:pPr>
            <a:endParaRPr lang="en-US" sz="3876" b="1">
              <a:solidFill>
                <a:srgbClr val="FFFFFA"/>
              </a:solidFill>
              <a:latin typeface="Raleway Bold"/>
              <a:ea typeface="Raleway Bold"/>
              <a:cs typeface="Raleway Bold"/>
              <a:sym typeface="Raleway Bold"/>
            </a:endParaRPr>
          </a:p>
        </p:txBody>
      </p:sp>
      <p:sp>
        <p:nvSpPr>
          <p:cNvPr id="11" name="TextBox 11"/>
          <p:cNvSpPr txBox="1"/>
          <p:nvPr/>
        </p:nvSpPr>
        <p:spPr>
          <a:xfrm>
            <a:off x="7851977" y="3840897"/>
            <a:ext cx="9881623" cy="4912865"/>
          </a:xfrm>
          <a:prstGeom prst="rect">
            <a:avLst/>
          </a:prstGeom>
        </p:spPr>
        <p:txBody>
          <a:bodyPr lIns="0" tIns="0" rIns="0" bIns="0" rtlCol="0" anchor="t">
            <a:spAutoFit/>
          </a:bodyPr>
          <a:lstStyle/>
          <a:p>
            <a:pPr algn="l">
              <a:lnSpc>
                <a:spcPts val="3927"/>
              </a:lnSpc>
            </a:pPr>
            <a:r>
              <a:rPr lang="en-US" sz="2805" b="1">
                <a:solidFill>
                  <a:srgbClr val="FFFFFA"/>
                </a:solidFill>
                <a:latin typeface="Raleway Bold"/>
                <a:ea typeface="Raleway Bold"/>
                <a:cs typeface="Raleway Bold"/>
                <a:sym typeface="Raleway Bold"/>
              </a:rPr>
              <a:t>Spark's vision is to become Egypt's leading growth partner for training platforms and EdTech businesses by transforming how learning organizations connect with their audiences. </a:t>
            </a:r>
          </a:p>
          <a:p>
            <a:pPr algn="l">
              <a:lnSpc>
                <a:spcPts val="3927"/>
              </a:lnSpc>
            </a:pPr>
            <a:r>
              <a:rPr lang="en-US" sz="2805" b="1">
                <a:solidFill>
                  <a:srgbClr val="FFFFFA"/>
                </a:solidFill>
                <a:latin typeface="Raleway Bold"/>
                <a:ea typeface="Raleway Bold"/>
                <a:cs typeface="Raleway Bold"/>
                <a:sym typeface="Raleway Bold"/>
              </a:rPr>
              <a:t>The agency envisions a market where EdTech startups and training providers no longer struggle to communicate their value — instead building strong, trusted brands backed by measurable community growth and sustainable learner acquisition.</a:t>
            </a:r>
          </a:p>
          <a:p>
            <a:pPr algn="l">
              <a:lnSpc>
                <a:spcPts val="3647"/>
              </a:lnSpc>
            </a:pPr>
            <a:endParaRPr lang="en-US" sz="2805" b="1">
              <a:solidFill>
                <a:srgbClr val="FFFFFA"/>
              </a:solidFill>
              <a:latin typeface="Raleway Bold"/>
              <a:ea typeface="Raleway Bold"/>
              <a:cs typeface="Raleway Bold"/>
              <a:sym typeface="Raleway Bold"/>
            </a:endParaRPr>
          </a:p>
        </p:txBody>
      </p:sp>
      <p:grpSp>
        <p:nvGrpSpPr>
          <p:cNvPr id="12" name="Group 12"/>
          <p:cNvGrpSpPr/>
          <p:nvPr/>
        </p:nvGrpSpPr>
        <p:grpSpPr>
          <a:xfrm>
            <a:off x="398955" y="4084381"/>
            <a:ext cx="1827704" cy="799004"/>
            <a:chOff x="0" y="0"/>
            <a:chExt cx="481371" cy="210437"/>
          </a:xfrm>
        </p:grpSpPr>
        <p:sp>
          <p:nvSpPr>
            <p:cNvPr id="13" name="Freeform 13"/>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7A126A">
                    <a:alpha val="100000"/>
                  </a:srgbClr>
                </a:gs>
              </a:gsLst>
              <a:lin ang="0"/>
            </a:gradFill>
          </p:spPr>
          <p:txBody>
            <a:bodyPr/>
            <a:lstStyle/>
            <a:p>
              <a:endParaRPr lang="en-US"/>
            </a:p>
          </p:txBody>
        </p:sp>
        <p:sp>
          <p:nvSpPr>
            <p:cNvPr id="14" name="TextBox 14"/>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15" name="Group 15"/>
          <p:cNvGrpSpPr/>
          <p:nvPr/>
        </p:nvGrpSpPr>
        <p:grpSpPr>
          <a:xfrm>
            <a:off x="5803875" y="5426888"/>
            <a:ext cx="1827704" cy="799004"/>
            <a:chOff x="0" y="0"/>
            <a:chExt cx="481371" cy="210437"/>
          </a:xfrm>
        </p:grpSpPr>
        <p:sp>
          <p:nvSpPr>
            <p:cNvPr id="16" name="Freeform 16"/>
            <p:cNvSpPr/>
            <p:nvPr/>
          </p:nvSpPr>
          <p:spPr>
            <a:xfrm>
              <a:off x="0" y="0"/>
              <a:ext cx="481371" cy="210437"/>
            </a:xfrm>
            <a:custGeom>
              <a:avLst/>
              <a:gdLst/>
              <a:ahLst/>
              <a:cxnLst/>
              <a:rect l="l" t="t" r="r" b="b"/>
              <a:pathLst>
                <a:path w="481371" h="210437">
                  <a:moveTo>
                    <a:pt x="0" y="0"/>
                  </a:moveTo>
                  <a:lnTo>
                    <a:pt x="481371" y="0"/>
                  </a:lnTo>
                  <a:lnTo>
                    <a:pt x="481371" y="210437"/>
                  </a:lnTo>
                  <a:lnTo>
                    <a:pt x="0" y="210437"/>
                  </a:lnTo>
                  <a:close/>
                </a:path>
              </a:pathLst>
            </a:custGeom>
            <a:gradFill rotWithShape="1">
              <a:gsLst>
                <a:gs pos="0">
                  <a:srgbClr val="C6269E">
                    <a:alpha val="100000"/>
                  </a:srgbClr>
                </a:gs>
                <a:gs pos="100000">
                  <a:srgbClr val="DDBAFF">
                    <a:alpha val="12000"/>
                  </a:srgbClr>
                </a:gs>
              </a:gsLst>
              <a:lin ang="0"/>
            </a:gradFill>
          </p:spPr>
          <p:txBody>
            <a:bodyPr/>
            <a:lstStyle/>
            <a:p>
              <a:endParaRPr lang="en-US"/>
            </a:p>
          </p:txBody>
        </p:sp>
        <p:sp>
          <p:nvSpPr>
            <p:cNvPr id="17" name="TextBox 17"/>
            <p:cNvSpPr txBox="1"/>
            <p:nvPr/>
          </p:nvSpPr>
          <p:spPr>
            <a:xfrm>
              <a:off x="0" y="28575"/>
              <a:ext cx="481371" cy="181862"/>
            </a:xfrm>
            <a:prstGeom prst="rect">
              <a:avLst/>
            </a:prstGeom>
          </p:spPr>
          <p:txBody>
            <a:bodyPr lIns="50800" tIns="50800" rIns="50800" bIns="50800" rtlCol="0" anchor="ctr"/>
            <a:lstStyle/>
            <a:p>
              <a:pPr algn="ctr">
                <a:lnSpc>
                  <a:spcPts val="2661"/>
                </a:lnSpc>
              </a:pPr>
              <a:endParaRPr/>
            </a:p>
          </p:txBody>
        </p:sp>
      </p:grpSp>
      <p:grpSp>
        <p:nvGrpSpPr>
          <p:cNvPr id="18" name="Group 18"/>
          <p:cNvGrpSpPr/>
          <p:nvPr/>
        </p:nvGrpSpPr>
        <p:grpSpPr>
          <a:xfrm rot="2087854">
            <a:off x="1153323" y="1953513"/>
            <a:ext cx="636070" cy="63607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238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20" name="TextBox 20"/>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717128" y="-12620097"/>
            <a:ext cx="17956749" cy="18046984"/>
          </a:xfrm>
          <a:custGeom>
            <a:avLst/>
            <a:gdLst/>
            <a:ahLst/>
            <a:cxnLst/>
            <a:rect l="l" t="t" r="r" b="b"/>
            <a:pathLst>
              <a:path w="17956749" h="18046984">
                <a:moveTo>
                  <a:pt x="0" y="0"/>
                </a:moveTo>
                <a:lnTo>
                  <a:pt x="17956750" y="0"/>
                </a:lnTo>
                <a:lnTo>
                  <a:pt x="17956750"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4" name="TextBox 4"/>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9</a:t>
            </a:r>
          </a:p>
        </p:txBody>
      </p:sp>
      <p:sp>
        <p:nvSpPr>
          <p:cNvPr id="5" name="TextBox 5"/>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6" name="Freeform 6"/>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2051607" y="3686290"/>
            <a:ext cx="8933168" cy="3948454"/>
          </a:xfrm>
          <a:prstGeom prst="rect">
            <a:avLst/>
          </a:prstGeom>
        </p:spPr>
        <p:txBody>
          <a:bodyPr lIns="0" tIns="0" rIns="0" bIns="0" rtlCol="0" anchor="t">
            <a:spAutoFit/>
          </a:bodyPr>
          <a:lstStyle/>
          <a:p>
            <a:pPr algn="l">
              <a:lnSpc>
                <a:spcPts val="4489"/>
              </a:lnSpc>
            </a:pPr>
            <a:r>
              <a:rPr lang="en-US" sz="3206" b="1">
                <a:solidFill>
                  <a:srgbClr val="FFFFFA"/>
                </a:solidFill>
                <a:latin typeface="Raleway Bold"/>
                <a:ea typeface="Raleway Bold"/>
                <a:cs typeface="Raleway Bold"/>
                <a:sym typeface="Raleway Bold"/>
              </a:rPr>
              <a:t>To empower EdTech startups and training platforms in Egypt by building strong brands, fostering deep customer trust and loyalty, and strategically managing social media presence to transform passive audiences into committed, engaged learning communities.</a:t>
            </a:r>
          </a:p>
          <a:p>
            <a:pPr algn="l">
              <a:lnSpc>
                <a:spcPts val="4489"/>
              </a:lnSpc>
            </a:pPr>
            <a:endParaRPr lang="en-US" sz="3206" b="1">
              <a:solidFill>
                <a:srgbClr val="FFFFFA"/>
              </a:solidFill>
              <a:latin typeface="Raleway Bold"/>
              <a:ea typeface="Raleway Bold"/>
              <a:cs typeface="Raleway Bold"/>
              <a:sym typeface="Raleway Bold"/>
            </a:endParaRPr>
          </a:p>
        </p:txBody>
      </p:sp>
      <p:grpSp>
        <p:nvGrpSpPr>
          <p:cNvPr id="8" name="Group 8"/>
          <p:cNvGrpSpPr/>
          <p:nvPr/>
        </p:nvGrpSpPr>
        <p:grpSpPr>
          <a:xfrm>
            <a:off x="11752460" y="4177014"/>
            <a:ext cx="5246370" cy="2807970"/>
            <a:chOff x="0" y="0"/>
            <a:chExt cx="812800" cy="435028"/>
          </a:xfrm>
        </p:grpSpPr>
        <p:sp>
          <p:nvSpPr>
            <p:cNvPr id="9" name="Freeform 9"/>
            <p:cNvSpPr/>
            <p:nvPr/>
          </p:nvSpPr>
          <p:spPr>
            <a:xfrm>
              <a:off x="0" y="0"/>
              <a:ext cx="812800" cy="435028"/>
            </a:xfrm>
            <a:custGeom>
              <a:avLst/>
              <a:gdLst/>
              <a:ahLst/>
              <a:cxnLst/>
              <a:rect l="l" t="t" r="r" b="b"/>
              <a:pathLst>
                <a:path w="812800" h="435028">
                  <a:moveTo>
                    <a:pt x="33940" y="0"/>
                  </a:moveTo>
                  <a:lnTo>
                    <a:pt x="778860" y="0"/>
                  </a:lnTo>
                  <a:cubicBezTo>
                    <a:pt x="797604" y="0"/>
                    <a:pt x="812800" y="15196"/>
                    <a:pt x="812800" y="33940"/>
                  </a:cubicBezTo>
                  <a:lnTo>
                    <a:pt x="812800" y="401088"/>
                  </a:lnTo>
                  <a:cubicBezTo>
                    <a:pt x="812800" y="419832"/>
                    <a:pt x="797604" y="435028"/>
                    <a:pt x="778860" y="435028"/>
                  </a:cubicBezTo>
                  <a:lnTo>
                    <a:pt x="33940" y="435028"/>
                  </a:lnTo>
                  <a:cubicBezTo>
                    <a:pt x="15196" y="435028"/>
                    <a:pt x="0" y="419832"/>
                    <a:pt x="0" y="401088"/>
                  </a:cubicBezTo>
                  <a:lnTo>
                    <a:pt x="0" y="33940"/>
                  </a:lnTo>
                  <a:cubicBezTo>
                    <a:pt x="0" y="15196"/>
                    <a:pt x="15196" y="0"/>
                    <a:pt x="33940" y="0"/>
                  </a:cubicBezTo>
                  <a:close/>
                </a:path>
              </a:pathLst>
            </a:custGeom>
            <a:blipFill>
              <a:blip r:embed="rId4"/>
              <a:stretch>
                <a:fillRect t="-12240" b="-12240"/>
              </a:stretch>
            </a:blipFill>
            <a:ln w="47625" cap="rnd">
              <a:gradFill>
                <a:gsLst>
                  <a:gs pos="0">
                    <a:srgbClr val="C6269E">
                      <a:alpha val="100000"/>
                    </a:srgbClr>
                  </a:gs>
                  <a:gs pos="100000">
                    <a:srgbClr val="DDBAFF">
                      <a:alpha val="12000"/>
                    </a:srgbClr>
                  </a:gs>
                </a:gsLst>
                <a:lin ang="0"/>
              </a:gradFill>
              <a:prstDash val="solid"/>
              <a:round/>
            </a:ln>
          </p:spPr>
          <p:txBody>
            <a:bodyPr/>
            <a:lstStyle/>
            <a:p>
              <a:endParaRPr lang="en-US"/>
            </a:p>
          </p:txBody>
        </p:sp>
      </p:grpSp>
      <p:sp>
        <p:nvSpPr>
          <p:cNvPr id="10" name="TextBox 10"/>
          <p:cNvSpPr txBox="1"/>
          <p:nvPr/>
        </p:nvSpPr>
        <p:spPr>
          <a:xfrm>
            <a:off x="5497868" y="1152525"/>
            <a:ext cx="7787879" cy="1174384"/>
          </a:xfrm>
          <a:prstGeom prst="rect">
            <a:avLst/>
          </a:prstGeom>
        </p:spPr>
        <p:txBody>
          <a:bodyPr lIns="0" tIns="0" rIns="0" bIns="0" rtlCol="0" anchor="t">
            <a:spAutoFit/>
          </a:bodyPr>
          <a:lstStyle/>
          <a:p>
            <a:pPr algn="l">
              <a:lnSpc>
                <a:spcPts val="8918"/>
              </a:lnSpc>
              <a:spcBef>
                <a:spcPct val="0"/>
              </a:spcBef>
            </a:pPr>
            <a:r>
              <a:rPr lang="en-US" sz="8575" b="1">
                <a:solidFill>
                  <a:srgbClr val="C6269E"/>
                </a:solidFill>
                <a:latin typeface="Raleway Heavy"/>
                <a:ea typeface="Raleway Heavy"/>
                <a:cs typeface="Raleway Heavy"/>
                <a:sym typeface="Raleway Heavy"/>
              </a:rPr>
              <a:t>spark mission</a:t>
            </a:r>
          </a:p>
        </p:txBody>
      </p:sp>
      <p:grpSp>
        <p:nvGrpSpPr>
          <p:cNvPr id="11" name="Group 11"/>
          <p:cNvGrpSpPr/>
          <p:nvPr/>
        </p:nvGrpSpPr>
        <p:grpSpPr>
          <a:xfrm rot="2087854">
            <a:off x="1067123" y="3701630"/>
            <a:ext cx="636070" cy="63607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238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13" name="TextBox 13"/>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673772" y="441220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rot="2087854">
            <a:off x="7265156" y="2044342"/>
            <a:ext cx="4251101" cy="425110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5" name="TextBox 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6" name="Group 6"/>
          <p:cNvGrpSpPr/>
          <p:nvPr/>
        </p:nvGrpSpPr>
        <p:grpSpPr>
          <a:xfrm rot="2087854">
            <a:off x="2329629" y="2044342"/>
            <a:ext cx="4251101" cy="425110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8" name="TextBox 8"/>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grpSp>
        <p:nvGrpSpPr>
          <p:cNvPr id="9" name="Group 9"/>
          <p:cNvGrpSpPr/>
          <p:nvPr/>
        </p:nvGrpSpPr>
        <p:grpSpPr>
          <a:xfrm rot="2087854">
            <a:off x="12159236" y="2099792"/>
            <a:ext cx="4204735" cy="420473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11" name="TextBox 11"/>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12" name="TextBox 12"/>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13" name="Freeform 13"/>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14"/>
          <p:cNvSpPr txBox="1"/>
          <p:nvPr/>
        </p:nvSpPr>
        <p:spPr>
          <a:xfrm>
            <a:off x="5023022" y="238286"/>
            <a:ext cx="5812192" cy="1087455"/>
          </a:xfrm>
          <a:prstGeom prst="rect">
            <a:avLst/>
          </a:prstGeom>
        </p:spPr>
        <p:txBody>
          <a:bodyPr lIns="0" tIns="0" rIns="0" bIns="0" rtlCol="0" anchor="t">
            <a:spAutoFit/>
          </a:bodyPr>
          <a:lstStyle/>
          <a:p>
            <a:pPr algn="l">
              <a:lnSpc>
                <a:spcPts val="8216"/>
              </a:lnSpc>
              <a:spcBef>
                <a:spcPct val="0"/>
              </a:spcBef>
            </a:pPr>
            <a:r>
              <a:rPr lang="en-US" sz="7900" b="1">
                <a:solidFill>
                  <a:srgbClr val="C6269E"/>
                </a:solidFill>
                <a:latin typeface="Raleway Heavy"/>
                <a:ea typeface="Raleway Heavy"/>
                <a:cs typeface="Raleway Heavy"/>
                <a:sym typeface="Raleway Heavy"/>
              </a:rPr>
              <a:t>spark</a:t>
            </a:r>
          </a:p>
        </p:txBody>
      </p:sp>
      <p:sp>
        <p:nvSpPr>
          <p:cNvPr id="15" name="TextBox 15"/>
          <p:cNvSpPr txBox="1"/>
          <p:nvPr/>
        </p:nvSpPr>
        <p:spPr>
          <a:xfrm>
            <a:off x="8260924" y="238286"/>
            <a:ext cx="5116942" cy="1087455"/>
          </a:xfrm>
          <a:prstGeom prst="rect">
            <a:avLst/>
          </a:prstGeom>
        </p:spPr>
        <p:txBody>
          <a:bodyPr lIns="0" tIns="0" rIns="0" bIns="0" rtlCol="0" anchor="t">
            <a:spAutoFit/>
          </a:bodyPr>
          <a:lstStyle/>
          <a:p>
            <a:pPr algn="l">
              <a:lnSpc>
                <a:spcPts val="8216"/>
              </a:lnSpc>
              <a:spcBef>
                <a:spcPct val="0"/>
              </a:spcBef>
            </a:pPr>
            <a:r>
              <a:rPr lang="en-US" sz="7900" b="1">
                <a:solidFill>
                  <a:srgbClr val="FFFFFA"/>
                </a:solidFill>
                <a:latin typeface="Raleway Bold"/>
                <a:ea typeface="Raleway Bold"/>
                <a:cs typeface="Raleway Bold"/>
                <a:sym typeface="Raleway Bold"/>
              </a:rPr>
              <a:t>core goals</a:t>
            </a:r>
          </a:p>
        </p:txBody>
      </p:sp>
      <p:sp>
        <p:nvSpPr>
          <p:cNvPr id="16" name="Freeform 16"/>
          <p:cNvSpPr/>
          <p:nvPr/>
        </p:nvSpPr>
        <p:spPr>
          <a:xfrm>
            <a:off x="3716170" y="1456950"/>
            <a:ext cx="1531575" cy="1537165"/>
          </a:xfrm>
          <a:custGeom>
            <a:avLst/>
            <a:gdLst/>
            <a:ahLst/>
            <a:cxnLst/>
            <a:rect l="l" t="t" r="r" b="b"/>
            <a:pathLst>
              <a:path w="1531575" h="1537165">
                <a:moveTo>
                  <a:pt x="0" y="0"/>
                </a:moveTo>
                <a:lnTo>
                  <a:pt x="1531575" y="0"/>
                </a:lnTo>
                <a:lnTo>
                  <a:pt x="1531575" y="1537165"/>
                </a:lnTo>
                <a:lnTo>
                  <a:pt x="0" y="1537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10</a:t>
            </a:r>
          </a:p>
        </p:txBody>
      </p:sp>
      <p:sp>
        <p:nvSpPr>
          <p:cNvPr id="18" name="Freeform 18"/>
          <p:cNvSpPr/>
          <p:nvPr/>
        </p:nvSpPr>
        <p:spPr>
          <a:xfrm>
            <a:off x="8650982" y="1456950"/>
            <a:ext cx="1531575" cy="1537165"/>
          </a:xfrm>
          <a:custGeom>
            <a:avLst/>
            <a:gdLst/>
            <a:ahLst/>
            <a:cxnLst/>
            <a:rect l="l" t="t" r="r" b="b"/>
            <a:pathLst>
              <a:path w="1531575" h="1537165">
                <a:moveTo>
                  <a:pt x="0" y="0"/>
                </a:moveTo>
                <a:lnTo>
                  <a:pt x="1531576" y="0"/>
                </a:lnTo>
                <a:lnTo>
                  <a:pt x="1531576" y="1537165"/>
                </a:lnTo>
                <a:lnTo>
                  <a:pt x="0" y="1537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9" name="Freeform 19"/>
          <p:cNvSpPr/>
          <p:nvPr/>
        </p:nvSpPr>
        <p:spPr>
          <a:xfrm>
            <a:off x="13275807" y="1456950"/>
            <a:ext cx="1531575" cy="1537165"/>
          </a:xfrm>
          <a:custGeom>
            <a:avLst/>
            <a:gdLst/>
            <a:ahLst/>
            <a:cxnLst/>
            <a:rect l="l" t="t" r="r" b="b"/>
            <a:pathLst>
              <a:path w="1531575" h="1537165">
                <a:moveTo>
                  <a:pt x="0" y="0"/>
                </a:moveTo>
                <a:lnTo>
                  <a:pt x="1531575" y="0"/>
                </a:lnTo>
                <a:lnTo>
                  <a:pt x="1531575" y="1537165"/>
                </a:lnTo>
                <a:lnTo>
                  <a:pt x="0" y="153716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TextBox 20"/>
          <p:cNvSpPr txBox="1"/>
          <p:nvPr/>
        </p:nvSpPr>
        <p:spPr>
          <a:xfrm>
            <a:off x="2614116" y="3299118"/>
            <a:ext cx="3682127" cy="2159505"/>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1. Establish Market Leadership in EdTech Marketing</a:t>
            </a:r>
          </a:p>
          <a:p>
            <a:pPr algn="ctr">
              <a:lnSpc>
                <a:spcPts val="4347"/>
              </a:lnSpc>
            </a:pPr>
            <a:endParaRPr lang="en-US" sz="3105" b="1">
              <a:solidFill>
                <a:srgbClr val="FFFFFA"/>
              </a:solidFill>
              <a:latin typeface="Raleway Bold"/>
              <a:ea typeface="Raleway Bold"/>
              <a:cs typeface="Raleway Bold"/>
              <a:sym typeface="Raleway Bold"/>
            </a:endParaRPr>
          </a:p>
        </p:txBody>
      </p:sp>
      <p:sp>
        <p:nvSpPr>
          <p:cNvPr id="21" name="TextBox 21"/>
          <p:cNvSpPr txBox="1"/>
          <p:nvPr/>
        </p:nvSpPr>
        <p:spPr>
          <a:xfrm>
            <a:off x="7423157" y="3246555"/>
            <a:ext cx="3948237" cy="2159505"/>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2. Drive Qualified Lead Generation for Training Providers</a:t>
            </a:r>
          </a:p>
          <a:p>
            <a:pPr algn="ctr">
              <a:lnSpc>
                <a:spcPts val="4347"/>
              </a:lnSpc>
            </a:pPr>
            <a:endParaRPr lang="en-US" sz="3105" b="1">
              <a:solidFill>
                <a:srgbClr val="FFFFFA"/>
              </a:solidFill>
              <a:latin typeface="Raleway Bold"/>
              <a:ea typeface="Raleway Bold"/>
              <a:cs typeface="Raleway Bold"/>
              <a:sym typeface="Raleway Bold"/>
            </a:endParaRPr>
          </a:p>
        </p:txBody>
      </p:sp>
      <p:sp>
        <p:nvSpPr>
          <p:cNvPr id="22" name="TextBox 22"/>
          <p:cNvSpPr txBox="1"/>
          <p:nvPr/>
        </p:nvSpPr>
        <p:spPr>
          <a:xfrm>
            <a:off x="12327740" y="3403690"/>
            <a:ext cx="3907141" cy="1616580"/>
          </a:xfrm>
          <a:prstGeom prst="rect">
            <a:avLst/>
          </a:prstGeom>
        </p:spPr>
        <p:txBody>
          <a:bodyPr lIns="0" tIns="0" rIns="0" bIns="0" rtlCol="0" anchor="t">
            <a:spAutoFit/>
          </a:bodyPr>
          <a:lstStyle/>
          <a:p>
            <a:pPr algn="ctr">
              <a:lnSpc>
                <a:spcPts val="4347"/>
              </a:lnSpc>
            </a:pPr>
            <a:r>
              <a:rPr lang="en-US" sz="3105" b="1">
                <a:solidFill>
                  <a:srgbClr val="FFFFFA"/>
                </a:solidFill>
                <a:latin typeface="Raleway Bold"/>
                <a:ea typeface="Raleway Bold"/>
                <a:cs typeface="Raleway Bold"/>
                <a:sym typeface="Raleway Bold"/>
              </a:rPr>
              <a:t>3. Build Strong Brand Identities for EdTech Clients</a:t>
            </a:r>
          </a:p>
        </p:txBody>
      </p:sp>
      <p:grpSp>
        <p:nvGrpSpPr>
          <p:cNvPr id="23" name="Group 23"/>
          <p:cNvGrpSpPr/>
          <p:nvPr/>
        </p:nvGrpSpPr>
        <p:grpSpPr>
          <a:xfrm rot="2087854">
            <a:off x="5057985" y="6428009"/>
            <a:ext cx="3622900" cy="362290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25" name="TextBox 25"/>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26" name="Freeform 26"/>
          <p:cNvSpPr/>
          <p:nvPr/>
        </p:nvSpPr>
        <p:spPr>
          <a:xfrm>
            <a:off x="6020050" y="5874120"/>
            <a:ext cx="1319642" cy="1324458"/>
          </a:xfrm>
          <a:custGeom>
            <a:avLst/>
            <a:gdLst/>
            <a:ahLst/>
            <a:cxnLst/>
            <a:rect l="l" t="t" r="r" b="b"/>
            <a:pathLst>
              <a:path w="1319642" h="1324458">
                <a:moveTo>
                  <a:pt x="0" y="0"/>
                </a:moveTo>
                <a:lnTo>
                  <a:pt x="1319641" y="0"/>
                </a:lnTo>
                <a:lnTo>
                  <a:pt x="1319641" y="1324458"/>
                </a:lnTo>
                <a:lnTo>
                  <a:pt x="0" y="13244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7" name="TextBox 27"/>
          <p:cNvSpPr txBox="1"/>
          <p:nvPr/>
        </p:nvSpPr>
        <p:spPr>
          <a:xfrm>
            <a:off x="5347081" y="7496823"/>
            <a:ext cx="2951944" cy="1508114"/>
          </a:xfrm>
          <a:prstGeom prst="rect">
            <a:avLst/>
          </a:prstGeom>
        </p:spPr>
        <p:txBody>
          <a:bodyPr lIns="0" tIns="0" rIns="0" bIns="0" rtlCol="0" anchor="t">
            <a:spAutoFit/>
          </a:bodyPr>
          <a:lstStyle/>
          <a:p>
            <a:pPr algn="ctr">
              <a:lnSpc>
                <a:spcPts val="4025"/>
              </a:lnSpc>
            </a:pPr>
            <a:r>
              <a:rPr lang="en-US" sz="2875" b="1">
                <a:solidFill>
                  <a:srgbClr val="FFFFFA"/>
                </a:solidFill>
                <a:latin typeface="Raleway Bold"/>
                <a:ea typeface="Raleway Bold"/>
                <a:cs typeface="Raleway Bold"/>
                <a:sym typeface="Raleway Bold"/>
              </a:rPr>
              <a:t>4. Grow and Engage Learner Communities</a:t>
            </a:r>
          </a:p>
        </p:txBody>
      </p:sp>
      <p:grpSp>
        <p:nvGrpSpPr>
          <p:cNvPr id="28" name="Group 28"/>
          <p:cNvGrpSpPr/>
          <p:nvPr/>
        </p:nvGrpSpPr>
        <p:grpSpPr>
          <a:xfrm rot="2087854">
            <a:off x="10331786" y="6392105"/>
            <a:ext cx="3622900" cy="362290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00025"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30" name="TextBox 30"/>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
        <p:nvSpPr>
          <p:cNvPr id="31" name="Freeform 31"/>
          <p:cNvSpPr/>
          <p:nvPr/>
        </p:nvSpPr>
        <p:spPr>
          <a:xfrm>
            <a:off x="11293851" y="5838217"/>
            <a:ext cx="1319642" cy="1324458"/>
          </a:xfrm>
          <a:custGeom>
            <a:avLst/>
            <a:gdLst/>
            <a:ahLst/>
            <a:cxnLst/>
            <a:rect l="l" t="t" r="r" b="b"/>
            <a:pathLst>
              <a:path w="1319642" h="1324458">
                <a:moveTo>
                  <a:pt x="0" y="0"/>
                </a:moveTo>
                <a:lnTo>
                  <a:pt x="1319642" y="0"/>
                </a:lnTo>
                <a:lnTo>
                  <a:pt x="1319642" y="1324458"/>
                </a:lnTo>
                <a:lnTo>
                  <a:pt x="0" y="13244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2" name="TextBox 32"/>
          <p:cNvSpPr txBox="1"/>
          <p:nvPr/>
        </p:nvSpPr>
        <p:spPr>
          <a:xfrm>
            <a:off x="10490794" y="7309230"/>
            <a:ext cx="3304886" cy="1929754"/>
          </a:xfrm>
          <a:prstGeom prst="rect">
            <a:avLst/>
          </a:prstGeom>
        </p:spPr>
        <p:txBody>
          <a:bodyPr lIns="0" tIns="0" rIns="0" bIns="0" rtlCol="0" anchor="t">
            <a:spAutoFit/>
          </a:bodyPr>
          <a:lstStyle/>
          <a:p>
            <a:pPr algn="ctr">
              <a:lnSpc>
                <a:spcPts val="3885"/>
              </a:lnSpc>
            </a:pPr>
            <a:r>
              <a:rPr lang="en-US" sz="2775" b="1">
                <a:solidFill>
                  <a:srgbClr val="FFFFFA"/>
                </a:solidFill>
                <a:latin typeface="Raleway Bold"/>
                <a:ea typeface="Raleway Bold"/>
                <a:cs typeface="Raleway Bold"/>
                <a:sym typeface="Raleway Bold"/>
              </a:rPr>
              <a:t>5. Accelerate Platform Adoption and Market Penetration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3" name="Freeform 3"/>
          <p:cNvSpPr/>
          <p:nvPr/>
        </p:nvSpPr>
        <p:spPr>
          <a:xfrm>
            <a:off x="-8140649" y="7241479"/>
            <a:ext cx="17956749" cy="16232393"/>
          </a:xfrm>
          <a:custGeom>
            <a:avLst/>
            <a:gdLst/>
            <a:ahLst/>
            <a:cxnLst/>
            <a:rect l="l" t="t" r="r" b="b"/>
            <a:pathLst>
              <a:path w="17956749" h="16232393">
                <a:moveTo>
                  <a:pt x="0" y="0"/>
                </a:moveTo>
                <a:lnTo>
                  <a:pt x="17956749" y="0"/>
                </a:lnTo>
                <a:lnTo>
                  <a:pt x="17956749" y="16232393"/>
                </a:lnTo>
                <a:lnTo>
                  <a:pt x="0" y="16232393"/>
                </a:lnTo>
                <a:lnTo>
                  <a:pt x="0" y="0"/>
                </a:lnTo>
                <a:close/>
              </a:path>
            </a:pathLst>
          </a:custGeom>
          <a:blipFill>
            <a:blip r:embed="rId2"/>
            <a:stretch>
              <a:fillRect t="-11178"/>
            </a:stretch>
          </a:blipFill>
        </p:spPr>
        <p:txBody>
          <a:bodyPr/>
          <a:lstStyle/>
          <a:p>
            <a:endParaRPr lang="en-US"/>
          </a:p>
        </p:txBody>
      </p:sp>
      <p:sp>
        <p:nvSpPr>
          <p:cNvPr id="4" name="TextBox 4"/>
          <p:cNvSpPr txBox="1"/>
          <p:nvPr/>
        </p:nvSpPr>
        <p:spPr>
          <a:xfrm>
            <a:off x="15309115" y="9063294"/>
            <a:ext cx="1716617" cy="277925"/>
          </a:xfrm>
          <a:prstGeom prst="rect">
            <a:avLst/>
          </a:prstGeom>
        </p:spPr>
        <p:txBody>
          <a:bodyPr lIns="0" tIns="0" rIns="0" bIns="0" rtlCol="0" anchor="t">
            <a:spAutoFit/>
          </a:bodyPr>
          <a:lstStyle/>
          <a:p>
            <a:pPr algn="l">
              <a:lnSpc>
                <a:spcPts val="2037"/>
              </a:lnSpc>
              <a:spcBef>
                <a:spcPct val="0"/>
              </a:spcBef>
            </a:pPr>
            <a:r>
              <a:rPr lang="en-US" sz="1958">
                <a:solidFill>
                  <a:srgbClr val="FFFFFF"/>
                </a:solidFill>
                <a:latin typeface="Raleway"/>
                <a:ea typeface="Raleway"/>
                <a:cs typeface="Raleway"/>
                <a:sym typeface="Raleway"/>
              </a:rPr>
              <a:t>Next Slide</a:t>
            </a:r>
          </a:p>
        </p:txBody>
      </p:sp>
      <p:sp>
        <p:nvSpPr>
          <p:cNvPr id="5" name="Freeform 5"/>
          <p:cNvSpPr/>
          <p:nvPr/>
        </p:nvSpPr>
        <p:spPr>
          <a:xfrm flipH="1">
            <a:off x="16998830" y="8999755"/>
            <a:ext cx="416017" cy="418299"/>
          </a:xfrm>
          <a:custGeom>
            <a:avLst/>
            <a:gdLst/>
            <a:ahLst/>
            <a:cxnLst/>
            <a:rect l="l" t="t" r="r" b="b"/>
            <a:pathLst>
              <a:path w="416017" h="418299">
                <a:moveTo>
                  <a:pt x="416017" y="0"/>
                </a:moveTo>
                <a:lnTo>
                  <a:pt x="0" y="0"/>
                </a:lnTo>
                <a:lnTo>
                  <a:pt x="0" y="418299"/>
                </a:lnTo>
                <a:lnTo>
                  <a:pt x="416017" y="418299"/>
                </a:lnTo>
                <a:lnTo>
                  <a:pt x="41601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2886928" y="4247619"/>
            <a:ext cx="4111902" cy="2358537"/>
            <a:chOff x="0" y="0"/>
            <a:chExt cx="7981950" cy="4578350"/>
          </a:xfrm>
        </p:grpSpPr>
        <p:sp>
          <p:nvSpPr>
            <p:cNvPr id="7" name="Freeform 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txBody>
            <a:bodyPr/>
            <a:lstStyle/>
            <a:p>
              <a:endParaRPr lang="en-US"/>
            </a:p>
          </p:txBody>
        </p:sp>
        <p:sp>
          <p:nvSpPr>
            <p:cNvPr id="8" name="Freeform 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txBody>
            <a:bodyPr/>
            <a:lstStyle/>
            <a:p>
              <a:endParaRPr lang="en-US"/>
            </a:p>
          </p:txBody>
        </p:sp>
        <p:sp>
          <p:nvSpPr>
            <p:cNvPr id="9" name="Freeform 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txBody>
            <a:bodyPr/>
            <a:lstStyle/>
            <a:p>
              <a:endParaRPr lang="en-US"/>
            </a:p>
          </p:txBody>
        </p:sp>
        <p:sp>
          <p:nvSpPr>
            <p:cNvPr id="10" name="Freeform 1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txBody>
            <a:bodyPr/>
            <a:lstStyle/>
            <a:p>
              <a:endParaRPr lang="en-US"/>
            </a:p>
          </p:txBody>
        </p:sp>
        <p:sp>
          <p:nvSpPr>
            <p:cNvPr id="11" name="Freeform 1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4"/>
              <a:stretch>
                <a:fillRect l="-1193" r="-1193"/>
              </a:stretch>
            </a:blipFill>
          </p:spPr>
          <p:txBody>
            <a:bodyPr/>
            <a:lstStyle/>
            <a:p>
              <a:endParaRPr lang="en-US"/>
            </a:p>
          </p:txBody>
        </p:sp>
      </p:grpSp>
      <p:sp>
        <p:nvSpPr>
          <p:cNvPr id="12" name="TextBox 12"/>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11</a:t>
            </a:r>
          </a:p>
        </p:txBody>
      </p:sp>
      <p:sp>
        <p:nvSpPr>
          <p:cNvPr id="13" name="TextBox 13"/>
          <p:cNvSpPr txBox="1"/>
          <p:nvPr/>
        </p:nvSpPr>
        <p:spPr>
          <a:xfrm>
            <a:off x="2084574" y="1133475"/>
            <a:ext cx="16018626" cy="2017798"/>
          </a:xfrm>
          <a:prstGeom prst="rect">
            <a:avLst/>
          </a:prstGeom>
        </p:spPr>
        <p:txBody>
          <a:bodyPr lIns="0" tIns="0" rIns="0" bIns="0" rtlCol="0" anchor="t">
            <a:spAutoFit/>
          </a:bodyPr>
          <a:lstStyle/>
          <a:p>
            <a:pPr algn="l">
              <a:lnSpc>
                <a:spcPts val="7774"/>
              </a:lnSpc>
            </a:pPr>
            <a:r>
              <a:rPr lang="en-US" sz="7475" b="1">
                <a:solidFill>
                  <a:srgbClr val="C6269E"/>
                </a:solidFill>
                <a:latin typeface="Raleway Heavy"/>
                <a:ea typeface="Raleway Heavy"/>
                <a:cs typeface="Raleway Heavy"/>
                <a:sym typeface="Raleway Heavy"/>
              </a:rPr>
              <a:t>Marketing Channels Overview</a:t>
            </a:r>
          </a:p>
          <a:p>
            <a:pPr algn="l">
              <a:lnSpc>
                <a:spcPts val="7774"/>
              </a:lnSpc>
              <a:spcBef>
                <a:spcPct val="0"/>
              </a:spcBef>
            </a:pPr>
            <a:endParaRPr lang="en-US" sz="7475" b="1">
              <a:solidFill>
                <a:srgbClr val="C6269E"/>
              </a:solidFill>
              <a:latin typeface="Raleway Heavy"/>
              <a:ea typeface="Raleway Heavy"/>
              <a:cs typeface="Raleway Heavy"/>
              <a:sym typeface="Raleway Heavy"/>
            </a:endParaRPr>
          </a:p>
        </p:txBody>
      </p:sp>
      <p:sp>
        <p:nvSpPr>
          <p:cNvPr id="14" name="TextBox 14"/>
          <p:cNvSpPr txBox="1"/>
          <p:nvPr/>
        </p:nvSpPr>
        <p:spPr>
          <a:xfrm>
            <a:off x="1233440" y="3471909"/>
            <a:ext cx="11282514" cy="3886930"/>
          </a:xfrm>
          <a:prstGeom prst="rect">
            <a:avLst/>
          </a:prstGeom>
        </p:spPr>
        <p:txBody>
          <a:bodyPr lIns="0" tIns="0" rIns="0" bIns="0" rtlCol="0" anchor="t">
            <a:spAutoFit/>
          </a:bodyPr>
          <a:lstStyle/>
          <a:p>
            <a:pPr marL="716176" lvl="1" indent="-358088" algn="l">
              <a:lnSpc>
                <a:spcPts val="3449"/>
              </a:lnSpc>
              <a:buFont typeface="Arial"/>
              <a:buChar char="•"/>
            </a:pPr>
            <a:r>
              <a:rPr lang="en-US" sz="3317">
                <a:solidFill>
                  <a:srgbClr val="FFFFFF"/>
                </a:solidFill>
                <a:latin typeface="Raleway"/>
                <a:ea typeface="Raleway"/>
                <a:cs typeface="Raleway"/>
                <a:sym typeface="Raleway"/>
              </a:rPr>
              <a:t>Social Media (Instagram, Facebook, LinkedIn)</a:t>
            </a:r>
          </a:p>
          <a:p>
            <a:pPr algn="l">
              <a:lnSpc>
                <a:spcPts val="3449"/>
              </a:lnSpc>
            </a:pPr>
            <a:endParaRPr lang="en-US" sz="3317">
              <a:solidFill>
                <a:srgbClr val="FFFFFF"/>
              </a:solidFill>
              <a:latin typeface="Raleway"/>
              <a:ea typeface="Raleway"/>
              <a:cs typeface="Raleway"/>
              <a:sym typeface="Raleway"/>
            </a:endParaRPr>
          </a:p>
          <a:p>
            <a:pPr marL="716176" lvl="1" indent="-358088" algn="l">
              <a:lnSpc>
                <a:spcPts val="3449"/>
              </a:lnSpc>
              <a:buFont typeface="Arial"/>
              <a:buChar char="•"/>
            </a:pPr>
            <a:r>
              <a:rPr lang="en-US" sz="3317">
                <a:solidFill>
                  <a:srgbClr val="FFFFFF"/>
                </a:solidFill>
                <a:latin typeface="Raleway"/>
                <a:ea typeface="Raleway"/>
                <a:cs typeface="Raleway"/>
                <a:sym typeface="Raleway"/>
              </a:rPr>
              <a:t>Website &amp; SEO</a:t>
            </a:r>
          </a:p>
          <a:p>
            <a:pPr algn="l">
              <a:lnSpc>
                <a:spcPts val="3449"/>
              </a:lnSpc>
            </a:pPr>
            <a:endParaRPr lang="en-US" sz="3317">
              <a:solidFill>
                <a:srgbClr val="FFFFFF"/>
              </a:solidFill>
              <a:latin typeface="Raleway"/>
              <a:ea typeface="Raleway"/>
              <a:cs typeface="Raleway"/>
              <a:sym typeface="Raleway"/>
            </a:endParaRPr>
          </a:p>
          <a:p>
            <a:pPr marL="716176" lvl="1" indent="-358088" algn="l">
              <a:lnSpc>
                <a:spcPts val="3449"/>
              </a:lnSpc>
              <a:buFont typeface="Arial"/>
              <a:buChar char="•"/>
            </a:pPr>
            <a:r>
              <a:rPr lang="en-US" sz="3317">
                <a:solidFill>
                  <a:srgbClr val="FFFFFF"/>
                </a:solidFill>
                <a:latin typeface="Raleway"/>
                <a:ea typeface="Raleway"/>
                <a:cs typeface="Raleway"/>
                <a:sym typeface="Raleway"/>
              </a:rPr>
              <a:t>Paid Advertising (Meta &amp; Google Ads)</a:t>
            </a:r>
          </a:p>
          <a:p>
            <a:pPr algn="l">
              <a:lnSpc>
                <a:spcPts val="3449"/>
              </a:lnSpc>
            </a:pPr>
            <a:endParaRPr lang="en-US" sz="3317">
              <a:solidFill>
                <a:srgbClr val="FFFFFF"/>
              </a:solidFill>
              <a:latin typeface="Raleway"/>
              <a:ea typeface="Raleway"/>
              <a:cs typeface="Raleway"/>
              <a:sym typeface="Raleway"/>
            </a:endParaRPr>
          </a:p>
          <a:p>
            <a:pPr marL="716176" lvl="1" indent="-358088" algn="l">
              <a:lnSpc>
                <a:spcPts val="3449"/>
              </a:lnSpc>
              <a:buFont typeface="Arial"/>
              <a:buChar char="•"/>
            </a:pPr>
            <a:r>
              <a:rPr lang="en-US" sz="3317">
                <a:solidFill>
                  <a:srgbClr val="FFFFFF"/>
                </a:solidFill>
                <a:latin typeface="Raleway"/>
                <a:ea typeface="Raleway"/>
                <a:cs typeface="Raleway"/>
                <a:sym typeface="Raleway"/>
              </a:rPr>
              <a:t>Email Marketing</a:t>
            </a:r>
          </a:p>
          <a:p>
            <a:pPr algn="l">
              <a:lnSpc>
                <a:spcPts val="3449"/>
              </a:lnSpc>
            </a:pPr>
            <a:endParaRPr lang="en-US" sz="3317">
              <a:solidFill>
                <a:srgbClr val="FFFFFF"/>
              </a:solidFill>
              <a:latin typeface="Raleway"/>
              <a:ea typeface="Raleway"/>
              <a:cs typeface="Raleway"/>
              <a:sym typeface="Raleway"/>
            </a:endParaRPr>
          </a:p>
          <a:p>
            <a:pPr marL="716176" lvl="1" indent="-358088" algn="l">
              <a:lnSpc>
                <a:spcPts val="3449"/>
              </a:lnSpc>
              <a:buFont typeface="Arial"/>
              <a:buChar char="•"/>
            </a:pPr>
            <a:r>
              <a:rPr lang="en-US" sz="3317">
                <a:solidFill>
                  <a:srgbClr val="FFFFFF"/>
                </a:solidFill>
                <a:latin typeface="Raleway"/>
                <a:ea typeface="Raleway"/>
                <a:cs typeface="Raleway"/>
                <a:sym typeface="Raleway"/>
              </a:rPr>
              <a:t>Content Marketing (blogs, videos, case studies)</a:t>
            </a:r>
          </a:p>
        </p:txBody>
      </p:sp>
      <p:grpSp>
        <p:nvGrpSpPr>
          <p:cNvPr id="15" name="Group 15"/>
          <p:cNvGrpSpPr/>
          <p:nvPr/>
        </p:nvGrpSpPr>
        <p:grpSpPr>
          <a:xfrm rot="2087854">
            <a:off x="15814030" y="3578340"/>
            <a:ext cx="1338558" cy="133855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F5DFF0">
                      <a:alpha val="29500"/>
                    </a:srgbClr>
                  </a:gs>
                  <a:gs pos="100000">
                    <a:srgbClr val="C6269E">
                      <a:alpha val="100000"/>
                    </a:srgbClr>
                  </a:gs>
                </a:gsLst>
                <a:lin ang="0"/>
              </a:gradFill>
              <a:prstDash val="solid"/>
              <a:miter/>
            </a:ln>
          </p:spPr>
          <p:txBody>
            <a:bodyPr/>
            <a:lstStyle/>
            <a:p>
              <a:endParaRPr lang="en-US"/>
            </a:p>
          </p:txBody>
        </p:sp>
        <p:sp>
          <p:nvSpPr>
            <p:cNvPr id="17" name="TextBox 17"/>
            <p:cNvSpPr txBox="1"/>
            <p:nvPr/>
          </p:nvSpPr>
          <p:spPr>
            <a:xfrm>
              <a:off x="76200" y="104775"/>
              <a:ext cx="660400" cy="631825"/>
            </a:xfrm>
            <a:prstGeom prst="rect">
              <a:avLst/>
            </a:prstGeom>
          </p:spPr>
          <p:txBody>
            <a:bodyPr lIns="50800" tIns="50800" rIns="50800" bIns="50800" rtlCol="0" anchor="ctr"/>
            <a:lstStyle/>
            <a:p>
              <a:pPr algn="ctr">
                <a:lnSpc>
                  <a:spcPts val="2557"/>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731906" y="3171110"/>
            <a:ext cx="14824189" cy="3255396"/>
            <a:chOff x="0" y="0"/>
            <a:chExt cx="1850635" cy="406400"/>
          </a:xfrm>
        </p:grpSpPr>
        <p:sp>
          <p:nvSpPr>
            <p:cNvPr id="3" name="Freeform 3"/>
            <p:cNvSpPr/>
            <p:nvPr/>
          </p:nvSpPr>
          <p:spPr>
            <a:xfrm>
              <a:off x="0" y="0"/>
              <a:ext cx="1850635" cy="406400"/>
            </a:xfrm>
            <a:custGeom>
              <a:avLst/>
              <a:gdLst/>
              <a:ahLst/>
              <a:cxnLst/>
              <a:rect l="l" t="t" r="r" b="b"/>
              <a:pathLst>
                <a:path w="1850635" h="406400">
                  <a:moveTo>
                    <a:pt x="1647435" y="0"/>
                  </a:moveTo>
                  <a:cubicBezTo>
                    <a:pt x="1759659" y="0"/>
                    <a:pt x="1850635" y="90976"/>
                    <a:pt x="1850635" y="203200"/>
                  </a:cubicBezTo>
                  <a:cubicBezTo>
                    <a:pt x="1850635" y="315424"/>
                    <a:pt x="1759659" y="406400"/>
                    <a:pt x="1647435" y="406400"/>
                  </a:cubicBezTo>
                  <a:lnTo>
                    <a:pt x="203200" y="406400"/>
                  </a:lnTo>
                  <a:cubicBezTo>
                    <a:pt x="90976" y="406400"/>
                    <a:pt x="0" y="315424"/>
                    <a:pt x="0" y="203200"/>
                  </a:cubicBezTo>
                  <a:cubicBezTo>
                    <a:pt x="0" y="90976"/>
                    <a:pt x="90976" y="0"/>
                    <a:pt x="203200" y="0"/>
                  </a:cubicBezTo>
                  <a:close/>
                </a:path>
              </a:pathLst>
            </a:custGeom>
            <a:ln w="114300" cap="sq">
              <a:gradFill>
                <a:gsLst>
                  <a:gs pos="0">
                    <a:srgbClr val="C6269E">
                      <a:alpha val="100000"/>
                    </a:srgbClr>
                  </a:gs>
                  <a:gs pos="100000">
                    <a:srgbClr val="DDBAFF">
                      <a:alpha val="12000"/>
                    </a:srgbClr>
                  </a:gs>
                </a:gsLst>
                <a:lin ang="0"/>
              </a:gradFill>
              <a:prstDash val="solid"/>
              <a:miter/>
            </a:ln>
          </p:spPr>
          <p:txBody>
            <a:bodyPr/>
            <a:lstStyle/>
            <a:p>
              <a:endParaRPr lang="en-US"/>
            </a:p>
          </p:txBody>
        </p:sp>
        <p:sp>
          <p:nvSpPr>
            <p:cNvPr id="4" name="TextBox 4"/>
            <p:cNvSpPr txBox="1"/>
            <p:nvPr/>
          </p:nvSpPr>
          <p:spPr>
            <a:xfrm>
              <a:off x="0" y="28575"/>
              <a:ext cx="1850635" cy="377825"/>
            </a:xfrm>
            <a:prstGeom prst="rect">
              <a:avLst/>
            </a:prstGeom>
          </p:spPr>
          <p:txBody>
            <a:bodyPr lIns="50800" tIns="50800" rIns="50800" bIns="50800" rtlCol="0" anchor="ctr"/>
            <a:lstStyle/>
            <a:p>
              <a:pPr algn="ctr">
                <a:lnSpc>
                  <a:spcPts val="2661"/>
                </a:lnSpc>
              </a:pPr>
              <a:endParaRPr/>
            </a:p>
          </p:txBody>
        </p:sp>
      </p:grpSp>
      <p:sp>
        <p:nvSpPr>
          <p:cNvPr id="5" name="Freeform 5"/>
          <p:cNvSpPr/>
          <p:nvPr/>
        </p:nvSpPr>
        <p:spPr>
          <a:xfrm>
            <a:off x="6525283" y="-12620097"/>
            <a:ext cx="17956749" cy="18046984"/>
          </a:xfrm>
          <a:custGeom>
            <a:avLst/>
            <a:gdLst/>
            <a:ahLst/>
            <a:cxnLst/>
            <a:rect l="l" t="t" r="r" b="b"/>
            <a:pathLst>
              <a:path w="17956749" h="18046984">
                <a:moveTo>
                  <a:pt x="0" y="0"/>
                </a:moveTo>
                <a:lnTo>
                  <a:pt x="17956749" y="0"/>
                </a:lnTo>
                <a:lnTo>
                  <a:pt x="17956749" y="18046985"/>
                </a:lnTo>
                <a:lnTo>
                  <a:pt x="0" y="18046985"/>
                </a:lnTo>
                <a:lnTo>
                  <a:pt x="0" y="0"/>
                </a:lnTo>
                <a:close/>
              </a:path>
            </a:pathLst>
          </a:custGeom>
          <a:blipFill>
            <a:blip r:embed="rId2"/>
            <a:stretch>
              <a:fillRect/>
            </a:stretch>
          </a:blipFill>
        </p:spPr>
        <p:txBody>
          <a:bodyPr/>
          <a:lstStyle/>
          <a:p>
            <a:endParaRPr lang="en-US"/>
          </a:p>
        </p:txBody>
      </p:sp>
      <p:sp>
        <p:nvSpPr>
          <p:cNvPr id="6" name="Freeform 6"/>
          <p:cNvSpPr/>
          <p:nvPr/>
        </p:nvSpPr>
        <p:spPr>
          <a:xfrm>
            <a:off x="-8140649" y="5426888"/>
            <a:ext cx="17956749" cy="18046984"/>
          </a:xfrm>
          <a:custGeom>
            <a:avLst/>
            <a:gdLst/>
            <a:ahLst/>
            <a:cxnLst/>
            <a:rect l="l" t="t" r="r" b="b"/>
            <a:pathLst>
              <a:path w="17956749" h="18046984">
                <a:moveTo>
                  <a:pt x="0" y="0"/>
                </a:moveTo>
                <a:lnTo>
                  <a:pt x="17956749" y="0"/>
                </a:lnTo>
                <a:lnTo>
                  <a:pt x="17956749" y="18046984"/>
                </a:lnTo>
                <a:lnTo>
                  <a:pt x="0" y="18046984"/>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867885" y="3653674"/>
            <a:ext cx="7187310" cy="2477471"/>
          </a:xfrm>
          <a:prstGeom prst="rect">
            <a:avLst/>
          </a:prstGeom>
        </p:spPr>
        <p:txBody>
          <a:bodyPr lIns="0" tIns="0" rIns="0" bIns="0" rtlCol="0" anchor="t">
            <a:spAutoFit/>
          </a:bodyPr>
          <a:lstStyle/>
          <a:p>
            <a:pPr algn="l">
              <a:lnSpc>
                <a:spcPts val="18761"/>
              </a:lnSpc>
              <a:spcBef>
                <a:spcPct val="0"/>
              </a:spcBef>
            </a:pPr>
            <a:r>
              <a:rPr lang="en-US" sz="18039" b="1">
                <a:solidFill>
                  <a:srgbClr val="FFFFFF"/>
                </a:solidFill>
                <a:latin typeface="Raleway Heavy"/>
                <a:ea typeface="Raleway Heavy"/>
                <a:cs typeface="Raleway Heavy"/>
                <a:sym typeface="Raleway Heavy"/>
              </a:rPr>
              <a:t>Thank</a:t>
            </a:r>
          </a:p>
        </p:txBody>
      </p:sp>
      <p:sp>
        <p:nvSpPr>
          <p:cNvPr id="8" name="TextBox 8"/>
          <p:cNvSpPr txBox="1"/>
          <p:nvPr/>
        </p:nvSpPr>
        <p:spPr>
          <a:xfrm rot="-5400000">
            <a:off x="129306" y="8878128"/>
            <a:ext cx="1078468" cy="243254"/>
          </a:xfrm>
          <a:prstGeom prst="rect">
            <a:avLst/>
          </a:prstGeom>
        </p:spPr>
        <p:txBody>
          <a:bodyPr lIns="0" tIns="0" rIns="0" bIns="0" rtlCol="0" anchor="t">
            <a:spAutoFit/>
          </a:bodyPr>
          <a:lstStyle/>
          <a:p>
            <a:pPr algn="ctr">
              <a:lnSpc>
                <a:spcPts val="1725"/>
              </a:lnSpc>
              <a:spcBef>
                <a:spcPct val="0"/>
              </a:spcBef>
            </a:pPr>
            <a:r>
              <a:rPr lang="en-US" sz="1658">
                <a:solidFill>
                  <a:srgbClr val="FFFFFF"/>
                </a:solidFill>
                <a:latin typeface="Raleway"/>
                <a:ea typeface="Raleway"/>
                <a:cs typeface="Raleway"/>
                <a:sym typeface="Raleway"/>
              </a:rPr>
              <a:t>Page 12</a:t>
            </a:r>
          </a:p>
        </p:txBody>
      </p:sp>
      <p:sp>
        <p:nvSpPr>
          <p:cNvPr id="9" name="TextBox 9"/>
          <p:cNvSpPr txBox="1"/>
          <p:nvPr/>
        </p:nvSpPr>
        <p:spPr>
          <a:xfrm>
            <a:off x="10055194" y="3714122"/>
            <a:ext cx="5933534" cy="2417023"/>
          </a:xfrm>
          <a:prstGeom prst="rect">
            <a:avLst/>
          </a:prstGeom>
        </p:spPr>
        <p:txBody>
          <a:bodyPr lIns="0" tIns="0" rIns="0" bIns="0" rtlCol="0" anchor="t">
            <a:spAutoFit/>
          </a:bodyPr>
          <a:lstStyle/>
          <a:p>
            <a:pPr algn="l">
              <a:lnSpc>
                <a:spcPts val="18217"/>
              </a:lnSpc>
              <a:spcBef>
                <a:spcPct val="0"/>
              </a:spcBef>
            </a:pPr>
            <a:r>
              <a:rPr lang="en-US" sz="17516" b="1">
                <a:solidFill>
                  <a:srgbClr val="C6269E"/>
                </a:solidFill>
                <a:latin typeface="Raleway Bold"/>
                <a:ea typeface="Raleway Bold"/>
                <a:cs typeface="Raleway Bold"/>
                <a:sym typeface="Raleway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623</Words>
  <Application>Microsoft Office PowerPoint</Application>
  <PresentationFormat>Custom</PresentationFormat>
  <Paragraphs>115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Raleway Bold</vt:lpstr>
      <vt:lpstr>Arial</vt:lpstr>
      <vt:lpstr>Raleway Heavy</vt:lpstr>
      <vt:lpstr>Raleway</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creator>pc</dc:creator>
  <cp:lastModifiedBy>Ebtistam Ali</cp:lastModifiedBy>
  <cp:revision>1</cp:revision>
  <dcterms:created xsi:type="dcterms:W3CDTF">2006-08-16T00:00:00Z</dcterms:created>
  <dcterms:modified xsi:type="dcterms:W3CDTF">2026-05-06T17:52:58Z</dcterms:modified>
  <dc:identifier>DAHDYn6ogwE</dc:identifier>
</cp:coreProperties>
</file>